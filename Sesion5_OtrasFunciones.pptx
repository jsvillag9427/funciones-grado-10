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365760"/>
            <a:ext cx="3840480" cy="3840480"/>
          </a:xfrm>
          <a:prstGeom prst="ellipse">
            <a:avLst/>
          </a:prstGeom>
          <a:solidFill>
            <a:srgbClr val="CFFAFE">
              <a:alpha val="70000"/>
            </a:srgbClr>
          </a:solidFill>
          <a:ln w="12700">
            <a:solidFill>
              <a:srgbClr val="CFFAFE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3291840"/>
            <a:ext cx="2560320" cy="2560320"/>
          </a:xfrm>
          <a:prstGeom prst="ellipse">
            <a:avLst/>
          </a:prstGeom>
          <a:solidFill>
            <a:srgbClr val="DCFCE7">
              <a:alpha val="70000"/>
            </a:srgbClr>
          </a:solidFill>
          <a:ln w="12700">
            <a:solidFill>
              <a:srgbClr val="DCFCE7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3566160"/>
            <a:ext cx="2011680" cy="2011680"/>
          </a:xfrm>
          <a:prstGeom prst="ellipse">
            <a:avLst/>
          </a:prstGeom>
          <a:solidFill>
            <a:srgbClr val="FEF3C7">
              <a:alpha val="80000"/>
            </a:srgbClr>
          </a:solidFill>
          <a:ln w="12700">
            <a:solidFill>
              <a:srgbClr val="FEF3C7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005840"/>
            <a:ext cx="82296" cy="2834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2011680" cy="384048"/>
          </a:xfrm>
          <a:prstGeom prst="rect">
            <a:avLst/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960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5 DE 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41732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 FUNCIONES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TRANSFORMACIONES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77240" y="324612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· Valor Absoluto · Racional · Traslaciones · Reflexiones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3794760"/>
            <a:ext cx="1426464" cy="402336"/>
          </a:xfrm>
          <a:prstGeom prst="rect">
            <a:avLst/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794760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13432" y="3794760"/>
            <a:ext cx="1426464" cy="402336"/>
          </a:xfrm>
          <a:prstGeom prst="rect">
            <a:avLst/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13432" y="3794760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|x|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9624" y="3794760"/>
            <a:ext cx="1426464" cy="402336"/>
          </a:xfrm>
          <a:prstGeom prst="rect">
            <a:avLst/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9624" y="3794760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85816" y="3794760"/>
            <a:ext cx="1426464" cy="402336"/>
          </a:xfrm>
          <a:prstGeom prst="rect">
            <a:avLst/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85816" y="3794760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Traslación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22008" y="3794760"/>
            <a:ext cx="1426464" cy="402336"/>
          </a:xfrm>
          <a:prstGeom prst="rect">
            <a:avLst/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22008" y="3794760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Reflexión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Público · Bello, Antioquia · Matemáticas Grado 10°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  Función Raíz Cuadrada   f(x) = √x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9264"/>
            <a:ext cx="4937760" cy="877824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9264"/>
            <a:ext cx="502920" cy="87782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16200000">
            <a:off x="320040" y="969264"/>
            <a:ext cx="502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024128"/>
            <a:ext cx="4206240" cy="7680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≥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existe √ de negativos en los reales)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938528"/>
            <a:ext cx="4937760" cy="877824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938528"/>
            <a:ext cx="502920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 rot="16200000">
            <a:off x="320040" y="1938528"/>
            <a:ext cx="502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1993392"/>
            <a:ext cx="4206240" cy="7680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≥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 raíz cuadrada siempre es positiva)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907792"/>
            <a:ext cx="4937760" cy="877824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907792"/>
            <a:ext cx="502920" cy="8778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 rot="16200000">
            <a:off x="320040" y="2907792"/>
            <a:ext cx="502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2962656"/>
            <a:ext cx="4206240" cy="7680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que crece lentamente,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en (0,0) y va hacia la derecha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877056"/>
            <a:ext cx="4937760" cy="877824"/>
          </a:xfrm>
          <a:prstGeom prst="rect">
            <a:avLst/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877056"/>
            <a:ext cx="502920" cy="87782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 rot="16200000">
            <a:off x="320040" y="3877056"/>
            <a:ext cx="502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3931920"/>
            <a:ext cx="4206240" cy="7680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valor de x da UNA sola raíz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sí es función ✅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0" y="969264"/>
            <a:ext cx="3291840" cy="3858768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0" y="969264"/>
            <a:ext cx="329184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98755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  f(x) = √x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89320" y="1234440"/>
            <a:ext cx="27432" cy="32004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11496" y="4434840"/>
            <a:ext cx="29260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61304" y="448056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45352" y="448056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29400" y="448056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013448" y="448056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397496" y="448056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781544" y="448056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715000" y="394106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15000" y="355701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715000" y="317296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 rot="-4149224">
            <a:off x="5989320" y="4434840"/>
            <a:ext cx="156485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-2844451">
            <a:off x="6045007" y="4288599"/>
            <a:ext cx="82282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-2391068">
            <a:off x="6100694" y="4228024"/>
            <a:ext cx="7253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-2107972">
            <a:off x="6156381" y="4181543"/>
            <a:ext cx="68092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-1907798">
            <a:off x="6212068" y="4142358"/>
            <a:ext cx="6552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-1756167">
            <a:off x="6267755" y="4107835"/>
            <a:ext cx="63837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-1636017">
            <a:off x="6323442" y="4076624"/>
            <a:ext cx="62648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-1537706">
            <a:off x="6379129" y="4047922"/>
            <a:ext cx="61763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-1455301">
            <a:off x="6434816" y="4021208"/>
            <a:ext cx="61079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-1384912">
            <a:off x="6490503" y="3996117"/>
            <a:ext cx="60533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-1323867">
            <a:off x="6546190" y="3972385"/>
            <a:ext cx="60088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-1270263">
            <a:off x="6601877" y="3949813"/>
            <a:ext cx="59718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-1222696">
            <a:off x="6657564" y="3928246"/>
            <a:ext cx="59405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-1180111">
            <a:off x="6713250" y="3907560"/>
            <a:ext cx="59137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-1141694">
            <a:off x="6768937" y="3887656"/>
            <a:ext cx="5890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-1106805">
            <a:off x="6824624" y="3868451"/>
            <a:ext cx="58703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-1074934">
            <a:off x="6880311" y="3849876"/>
            <a:ext cx="58525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-1045670">
            <a:off x="6935998" y="3831872"/>
            <a:ext cx="5836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-1018675">
            <a:off x="6991685" y="3814391"/>
            <a:ext cx="58225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-993670">
            <a:off x="7047372" y="3797390"/>
            <a:ext cx="58097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-970421">
            <a:off x="7103059" y="3780830"/>
            <a:ext cx="57982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-948733">
            <a:off x="7158746" y="3764679"/>
            <a:ext cx="57877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-928438">
            <a:off x="7214433" y="3748908"/>
            <a:ext cx="57781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-909393">
            <a:off x="7270120" y="3733492"/>
            <a:ext cx="57694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-891474">
            <a:off x="7325807" y="3718408"/>
            <a:ext cx="57613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-874575">
            <a:off x="7381494" y="3703634"/>
            <a:ext cx="57539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-858603">
            <a:off x="7437181" y="3689154"/>
            <a:ext cx="5747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-843475">
            <a:off x="7492868" y="3674949"/>
            <a:ext cx="5740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-829120">
            <a:off x="7548555" y="3661005"/>
            <a:ext cx="57347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-815474">
            <a:off x="7604242" y="3647307"/>
            <a:ext cx="57291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-802480">
            <a:off x="7659929" y="3633844"/>
            <a:ext cx="57239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-790089">
            <a:off x="7715616" y="3620604"/>
            <a:ext cx="57191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-778255">
            <a:off x="7771303" y="3607575"/>
            <a:ext cx="57145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-766937">
            <a:off x="7826990" y="3594749"/>
            <a:ext cx="57102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-756099">
            <a:off x="7882677" y="3582115"/>
            <a:ext cx="57062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-745708">
            <a:off x="7938364" y="3569666"/>
            <a:ext cx="57023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-735735">
            <a:off x="7994051" y="3557393"/>
            <a:ext cx="56987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-726151">
            <a:off x="8049738" y="3545290"/>
            <a:ext cx="56953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rot="-716932">
            <a:off x="8105424" y="3533349"/>
            <a:ext cx="5692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-708056">
            <a:off x="8161111" y="3521564"/>
            <a:ext cx="56889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907024" y="4352544"/>
            <a:ext cx="164592" cy="164592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291072" y="3968496"/>
            <a:ext cx="164592" cy="164592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443216" y="3584448"/>
            <a:ext cx="164592" cy="164592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062472" y="4233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(0,0)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6446520" y="38679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(1,1)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7598664" y="34838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(4,2)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5532120" y="4041648"/>
            <a:ext cx="3200400" cy="749808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596128" y="4078224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x: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5943600" y="4078224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f(0)=0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6473952" y="4078224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f(1)=1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7004304" y="4078224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f(4)=2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7534656" y="4078224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f(9)=3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8065008" y="4078224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f(16)=4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5559552" y="442569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¡A medida que x crece, f(x) crece cada vez MÁS LENTO!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Truco de memoria: f(x)=√x es 'la inversa de x²'. Si x²=9, entonces √9=3. ¡Son funciones inversas!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Función Valor Absoluto   f(x) = |x|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9264"/>
            <a:ext cx="841248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absoluto da la DISTANCIA de x al cero — siempre positivo. Definición por tramos: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09344"/>
            <a:ext cx="4114800" cy="1234440"/>
          </a:xfrm>
          <a:prstGeom prst="rect">
            <a:avLst/>
          </a:prstGeom>
          <a:solidFill>
            <a:srgbClr val="FFE4E6"/>
          </a:solidFill>
          <a:ln w="254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642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por tramos: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933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x      si  x ≥ 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591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−x    si  x &lt; 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56816"/>
            <a:ext cx="73152" cy="7863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926080"/>
            <a:ext cx="2029968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" y="2980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Vértice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3273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 0) — el punto más bajo de la V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87168" y="2926080"/>
            <a:ext cx="2029968" cy="713232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60320" y="2980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Dominio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3273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reales 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730752"/>
            <a:ext cx="2029968" cy="71323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8912" y="3785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Rango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" y="40782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≥ 0  (nunca negativa)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87168" y="3730752"/>
            <a:ext cx="2029968" cy="71323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60320" y="3785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Forma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0" y="40782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forma de V, simétrica en x=0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1609344"/>
            <a:ext cx="41148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609344"/>
            <a:ext cx="4114800" cy="38404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6276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  f(x) = |x|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20840" y="1783080"/>
            <a:ext cx="27432" cy="27432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52744" y="4526280"/>
            <a:ext cx="25603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30952" y="457200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751576" y="457200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72200" y="457200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592824" y="457200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013448" y="457200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434072" y="457200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854696" y="457200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 rot="2700000">
            <a:off x="5458968" y="3264408"/>
            <a:ext cx="594852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2700000">
            <a:off x="5879592" y="3685032"/>
            <a:ext cx="594852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2700000">
            <a:off x="6300216" y="4105656"/>
            <a:ext cx="594852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-2700000">
            <a:off x="6720840" y="4526280"/>
            <a:ext cx="594852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-2700000">
            <a:off x="7141464" y="4105656"/>
            <a:ext cx="594852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-2700000">
            <a:off x="7562088" y="3685032"/>
            <a:ext cx="594852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38544" y="4443984"/>
            <a:ext cx="164592" cy="164592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93992" y="41788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(0,0)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Vértice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09160" y="4590288"/>
            <a:ext cx="4023360" cy="182880"/>
          </a:xfrm>
          <a:prstGeom prst="rect">
            <a:avLst/>
          </a:prstGeom>
          <a:solidFill>
            <a:srgbClr val="FFE4E6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459028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real: distancia, errores, diferencias de temperatura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absoluto: |5|=5  |−5|=5  |0|=0  →  siempre la distancia al cero, siempre positivo.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 Función Racional   f(x) = 1/x  (Hipérbola)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9264"/>
            <a:ext cx="8412480" cy="475488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8755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función 1/x tiene un valor prohibido: x = 0. Si divides entre cero → la función no existe (asíntota).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1536192"/>
            <a:ext cx="2103120" cy="100584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36192"/>
            <a:ext cx="21031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572768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93192" y="1901952"/>
            <a:ext cx="19568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≠ 0  (todo excepto cero)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(−∞, 0) ∪ (0, +∞)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32888" y="1536192"/>
            <a:ext cx="2103120" cy="1005840"/>
          </a:xfrm>
          <a:prstGeom prst="rect">
            <a:avLst/>
          </a:prstGeom>
          <a:solidFill>
            <a:srgbClr val="FFE4E6"/>
          </a:solidFill>
          <a:ln w="1905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32888" y="1536192"/>
            <a:ext cx="2103120" cy="3291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572768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06040" y="1901952"/>
            <a:ext cx="19568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≠ 0  (nunca toca el eje 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(−∞, 0) ∪ (0, +∞)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651760"/>
            <a:ext cx="2103120" cy="100584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651760"/>
            <a:ext cx="21031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268833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ASÍNTOTA VERTICAL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93192" y="3017520"/>
            <a:ext cx="19568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0  →  la curva se acerca pero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toca el eje 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32888" y="2651760"/>
            <a:ext cx="2103120" cy="1005840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32888" y="2651760"/>
            <a:ext cx="210312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268833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ASÍNTOTA HORIZONTAL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606040" y="3017520"/>
            <a:ext cx="19568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0  →  la curva se acerca pero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toca el eje 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767328"/>
            <a:ext cx="4297680" cy="1078992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767328"/>
            <a:ext cx="42976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78561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al acercarse a x=0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" y="4169664"/>
            <a:ext cx="804672" cy="292608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41788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170432" y="4169664"/>
            <a:ext cx="804672" cy="292608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70432" y="41788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993392" y="4169664"/>
            <a:ext cx="804672" cy="292608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93392" y="41788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816352" y="4169664"/>
            <a:ext cx="804672" cy="292608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16352" y="41788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39312" y="4169664"/>
            <a:ext cx="804672" cy="292608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39312" y="41788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47472" y="4480560"/>
            <a:ext cx="80467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448970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170432" y="4480560"/>
            <a:ext cx="80467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70432" y="448970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993392" y="4480560"/>
            <a:ext cx="80467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93392" y="448970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816352" y="4480560"/>
            <a:ext cx="80467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16352" y="448970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639312" y="4480560"/>
            <a:ext cx="80467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48970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∞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00600" y="969264"/>
            <a:ext cx="3977640" cy="3877056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00600" y="969264"/>
            <a:ext cx="39776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98755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  f(x) = 1/x  (hipérbola)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766560" y="1097280"/>
            <a:ext cx="27432" cy="18288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08192" y="2926080"/>
            <a:ext cx="219456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5088031">
            <a:off x="6867565" y="1465821"/>
            <a:ext cx="351741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4893420">
            <a:off x="6899441" y="1816115"/>
            <a:ext cx="217101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4656709">
            <a:off x="6931317" y="2030863"/>
            <a:ext cx="148583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4383430">
            <a:off x="6963193" y="2175986"/>
            <a:ext cx="109383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4081822">
            <a:off x="6995069" y="2280621"/>
            <a:ext cx="85204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3762490">
            <a:off x="7026945" y="2359638"/>
            <a:ext cx="69519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3437281">
            <a:off x="7058821" y="2421418"/>
            <a:ext cx="58984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3117648">
            <a:off x="7090697" y="2471047"/>
            <a:ext cx="5173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2813108">
            <a:off x="7122572" y="2511789"/>
            <a:ext cx="46639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2530320">
            <a:off x="7154448" y="2545834"/>
            <a:ext cx="4301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2272948">
            <a:off x="7186324" y="2574709"/>
            <a:ext cx="40387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2042127">
            <a:off x="7218200" y="2599509"/>
            <a:ext cx="38465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1837185">
            <a:off x="7250076" y="2621038"/>
            <a:ext cx="37041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1656350">
            <a:off x="7281952" y="2639904"/>
            <a:ext cx="35971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1497307">
            <a:off x="7313828" y="2656573"/>
            <a:ext cx="3515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1357585">
            <a:off x="7345704" y="2671406"/>
            <a:ext cx="34534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1234777">
            <a:off x="7377580" y="2684692"/>
            <a:ext cx="34049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1126667">
            <a:off x="7409456" y="2696661"/>
            <a:ext cx="3366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1031278">
            <a:off x="7441332" y="2707498"/>
            <a:ext cx="33366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946881">
            <a:off x="7473208" y="2717358"/>
            <a:ext cx="33125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871982">
            <a:off x="7505084" y="2726367"/>
            <a:ext cx="3293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805299">
            <a:off x="7536960" y="2734630"/>
            <a:ext cx="32771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rot="745740">
            <a:off x="7568836" y="2742237"/>
            <a:ext cx="32641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692372">
            <a:off x="7600712" y="2749262"/>
            <a:ext cx="32534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644398">
            <a:off x="7632588" y="2755770"/>
            <a:ext cx="32444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rot="601141">
            <a:off x="7664464" y="2761817"/>
            <a:ext cx="3237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rot="562019">
            <a:off x="7696340" y="2767448"/>
            <a:ext cx="32307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rot="526536">
            <a:off x="7728216" y="2772706"/>
            <a:ext cx="32254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rot="494264">
            <a:off x="7760092" y="2777627"/>
            <a:ext cx="3220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rot="464834">
            <a:off x="7791968" y="2782242"/>
            <a:ext cx="3217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rot="437929">
            <a:off x="7823844" y="2786578"/>
            <a:ext cx="32136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rot="413270">
            <a:off x="7855720" y="2790661"/>
            <a:ext cx="3210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rot="390620">
            <a:off x="7887596" y="2794512"/>
            <a:ext cx="32083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rot="369767">
            <a:off x="7919472" y="2798149"/>
            <a:ext cx="32061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rot="350530">
            <a:off x="7951348" y="2801591"/>
            <a:ext cx="32042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rot="332746">
            <a:off x="7983224" y="2804853"/>
            <a:ext cx="32026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rot="316274">
            <a:off x="8015100" y="2807948"/>
            <a:ext cx="32011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rot="300990">
            <a:off x="8046976" y="2810889"/>
            <a:ext cx="31999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rot="286782">
            <a:off x="8078852" y="2813687"/>
            <a:ext cx="31987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rot="286782">
            <a:off x="5422392" y="3035808"/>
            <a:ext cx="31987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rot="300990">
            <a:off x="5454268" y="3038473"/>
            <a:ext cx="31999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rot="316274">
            <a:off x="5486144" y="3041271"/>
            <a:ext cx="32011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rot="332746">
            <a:off x="5518020" y="3044212"/>
            <a:ext cx="32026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rot="350530">
            <a:off x="5549896" y="3047307"/>
            <a:ext cx="32042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rot="369767">
            <a:off x="5581772" y="3050569"/>
            <a:ext cx="32061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rot="390620">
            <a:off x="5613648" y="3054011"/>
            <a:ext cx="32083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rot="413270">
            <a:off x="5645524" y="3057648"/>
            <a:ext cx="3210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rot="437929">
            <a:off x="5677400" y="3061499"/>
            <a:ext cx="32136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rot="464834">
            <a:off x="5709276" y="3065582"/>
            <a:ext cx="3217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rot="494264">
            <a:off x="5741152" y="3069918"/>
            <a:ext cx="3220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rot="526536">
            <a:off x="5773028" y="3074533"/>
            <a:ext cx="32254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rot="562019">
            <a:off x="5804904" y="3079454"/>
            <a:ext cx="32307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rot="601141">
            <a:off x="5836780" y="3084712"/>
            <a:ext cx="3237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rot="644398">
            <a:off x="5868656" y="3090343"/>
            <a:ext cx="32444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rot="692372">
            <a:off x="5900532" y="3096390"/>
            <a:ext cx="32534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rot="745740">
            <a:off x="5932408" y="3102898"/>
            <a:ext cx="32641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rot="805299">
            <a:off x="5964284" y="3109923"/>
            <a:ext cx="32771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rot="871982">
            <a:off x="5996160" y="3117530"/>
            <a:ext cx="3293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rot="946881">
            <a:off x="6028036" y="3125793"/>
            <a:ext cx="33125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rot="1031278">
            <a:off x="6059912" y="3134802"/>
            <a:ext cx="33366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rot="1126667">
            <a:off x="6091788" y="3144662"/>
            <a:ext cx="3366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rot="1234777">
            <a:off x="6123664" y="3155499"/>
            <a:ext cx="34049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rot="1357585">
            <a:off x="6155540" y="3167468"/>
            <a:ext cx="34534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rot="1497307">
            <a:off x="6187416" y="3180754"/>
            <a:ext cx="3515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rot="1656350">
            <a:off x="6219292" y="3195587"/>
            <a:ext cx="35971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rot="1837185">
            <a:off x="6251168" y="3212256"/>
            <a:ext cx="37041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rot="2042127">
            <a:off x="6283044" y="3231122"/>
            <a:ext cx="38465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rot="2272948">
            <a:off x="6314920" y="3252651"/>
            <a:ext cx="40387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rot="2530320">
            <a:off x="6346796" y="3277451"/>
            <a:ext cx="4301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rot="2813108">
            <a:off x="6378672" y="3306326"/>
            <a:ext cx="46639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rot="3117648">
            <a:off x="6410548" y="3340371"/>
            <a:ext cx="5173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rot="3437281">
            <a:off x="6442423" y="3381113"/>
            <a:ext cx="58984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rot="3762490">
            <a:off x="6474299" y="3430742"/>
            <a:ext cx="69519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rot="4081822">
            <a:off x="6506175" y="3492522"/>
            <a:ext cx="85204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rot="4383430">
            <a:off x="6538051" y="3571539"/>
            <a:ext cx="109383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rot="4656709">
            <a:off x="6569927" y="3676174"/>
            <a:ext cx="148583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rot="4893420">
            <a:off x="6601803" y="3821297"/>
            <a:ext cx="217101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rot="5088031">
            <a:off x="6633679" y="4036045"/>
            <a:ext cx="351741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752844" y="1426464"/>
            <a:ext cx="27432" cy="91440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752844" y="1627632"/>
            <a:ext cx="27432" cy="91440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752844" y="1828800"/>
            <a:ext cx="27432" cy="91440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752844" y="2029968"/>
            <a:ext cx="27432" cy="91440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752844" y="2231136"/>
            <a:ext cx="27432" cy="91440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752844" y="2432304"/>
            <a:ext cx="27432" cy="91440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752844" y="2633472"/>
            <a:ext cx="27432" cy="91440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752844" y="2834640"/>
            <a:ext cx="27432" cy="91440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752844" y="3035808"/>
            <a:ext cx="27432" cy="91440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752844" y="3236976"/>
            <a:ext cx="27432" cy="91440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752844" y="3438144"/>
            <a:ext cx="27432" cy="91440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752844" y="3639312"/>
            <a:ext cx="27432" cy="91440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752844" y="3840480"/>
            <a:ext cx="27432" cy="91440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752844" y="4041648"/>
            <a:ext cx="27432" cy="91440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752844" y="4242816"/>
            <a:ext cx="27432" cy="91440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752844" y="4443984"/>
            <a:ext cx="27432" cy="91440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752844" y="4645152"/>
            <a:ext cx="27432" cy="91440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120640" y="2912364"/>
            <a:ext cx="91440" cy="27432"/>
          </a:xfrm>
          <a:prstGeom prst="rect">
            <a:avLst/>
          </a:prstGeom>
          <a:solidFill>
            <a:srgbClr val="A5F3FC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321808" y="2912364"/>
            <a:ext cx="91440" cy="27432"/>
          </a:xfrm>
          <a:prstGeom prst="rect">
            <a:avLst/>
          </a:prstGeom>
          <a:solidFill>
            <a:srgbClr val="A5F3FC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522976" y="2912364"/>
            <a:ext cx="91440" cy="27432"/>
          </a:xfrm>
          <a:prstGeom prst="rect">
            <a:avLst/>
          </a:prstGeom>
          <a:solidFill>
            <a:srgbClr val="A5F3FC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24144" y="2912364"/>
            <a:ext cx="91440" cy="27432"/>
          </a:xfrm>
          <a:prstGeom prst="rect">
            <a:avLst/>
          </a:prstGeom>
          <a:solidFill>
            <a:srgbClr val="A5F3FC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925312" y="2912364"/>
            <a:ext cx="91440" cy="27432"/>
          </a:xfrm>
          <a:prstGeom prst="rect">
            <a:avLst/>
          </a:prstGeom>
          <a:solidFill>
            <a:srgbClr val="A5F3FC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126480" y="2912364"/>
            <a:ext cx="91440" cy="27432"/>
          </a:xfrm>
          <a:prstGeom prst="rect">
            <a:avLst/>
          </a:prstGeom>
          <a:solidFill>
            <a:srgbClr val="A5F3FC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327648" y="2912364"/>
            <a:ext cx="91440" cy="27432"/>
          </a:xfrm>
          <a:prstGeom prst="rect">
            <a:avLst/>
          </a:prstGeom>
          <a:solidFill>
            <a:srgbClr val="A5F3FC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528816" y="2912364"/>
            <a:ext cx="91440" cy="27432"/>
          </a:xfrm>
          <a:prstGeom prst="rect">
            <a:avLst/>
          </a:prstGeom>
          <a:solidFill>
            <a:srgbClr val="A5F3FC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729984" y="2912364"/>
            <a:ext cx="91440" cy="27432"/>
          </a:xfrm>
          <a:prstGeom prst="rect">
            <a:avLst/>
          </a:prstGeom>
          <a:solidFill>
            <a:srgbClr val="A5F3FC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931152" y="2912364"/>
            <a:ext cx="91440" cy="27432"/>
          </a:xfrm>
          <a:prstGeom prst="rect">
            <a:avLst/>
          </a:prstGeom>
          <a:solidFill>
            <a:srgbClr val="A5F3FC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132320" y="2912364"/>
            <a:ext cx="91440" cy="27432"/>
          </a:xfrm>
          <a:prstGeom prst="rect">
            <a:avLst/>
          </a:prstGeom>
          <a:solidFill>
            <a:srgbClr val="A5F3FC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333488" y="2912364"/>
            <a:ext cx="91440" cy="27432"/>
          </a:xfrm>
          <a:prstGeom prst="rect">
            <a:avLst/>
          </a:prstGeom>
          <a:solidFill>
            <a:srgbClr val="A5F3FC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534656" y="2912364"/>
            <a:ext cx="91440" cy="27432"/>
          </a:xfrm>
          <a:prstGeom prst="rect">
            <a:avLst/>
          </a:prstGeom>
          <a:solidFill>
            <a:srgbClr val="A5F3FC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735824" y="2912364"/>
            <a:ext cx="91440" cy="27432"/>
          </a:xfrm>
          <a:prstGeom prst="rect">
            <a:avLst/>
          </a:prstGeom>
          <a:solidFill>
            <a:srgbClr val="A5F3FC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936992" y="2912364"/>
            <a:ext cx="91440" cy="27432"/>
          </a:xfrm>
          <a:prstGeom prst="rect">
            <a:avLst/>
          </a:prstGeom>
          <a:solidFill>
            <a:srgbClr val="A5F3FC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138160" y="2912364"/>
            <a:ext cx="91440" cy="27432"/>
          </a:xfrm>
          <a:prstGeom prst="rect">
            <a:avLst/>
          </a:prstGeom>
          <a:solidFill>
            <a:srgbClr val="A5F3FC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339328" y="2912364"/>
            <a:ext cx="91440" cy="27432"/>
          </a:xfrm>
          <a:prstGeom prst="rect">
            <a:avLst/>
          </a:prstGeom>
          <a:solidFill>
            <a:srgbClr val="A5F3FC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6821424" y="14264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x=0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(asíntota v.)</a:t>
            </a:r>
            <a:endParaRPr lang="en-US" sz="800" dirty="0"/>
          </a:p>
        </p:txBody>
      </p:sp>
      <p:sp>
        <p:nvSpPr>
          <p:cNvPr id="163" name="Text 161"/>
          <p:cNvSpPr/>
          <p:nvPr/>
        </p:nvSpPr>
        <p:spPr>
          <a:xfrm>
            <a:off x="7059168" y="27066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y=0 (asíntota h.) →</a:t>
            </a:r>
            <a:endParaRPr lang="en-US" sz="800" dirty="0"/>
          </a:p>
        </p:txBody>
      </p:sp>
      <p:sp>
        <p:nvSpPr>
          <p:cNvPr id="164" name="Shape 162"/>
          <p:cNvSpPr/>
          <p:nvPr/>
        </p:nvSpPr>
        <p:spPr>
          <a:xfrm>
            <a:off x="7077456" y="2468880"/>
            <a:ext cx="146304" cy="146304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461504" y="2660904"/>
            <a:ext cx="146304" cy="146304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885432" y="2084832"/>
            <a:ext cx="146304" cy="146304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hipérbola tiene DOS ramas — una en el cuadrante I (+,+) y otra en el III (−,−). Nunca se tocan.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Comparando las tres funciones especiales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326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función tiene una 'personalidad' diferente. Aprender a reconocerlas de un vistazo es clave.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74320" y="1353312"/>
            <a:ext cx="2834640" cy="3520440"/>
          </a:xfrm>
          <a:prstGeom prst="rect">
            <a:avLst/>
          </a:prstGeom>
          <a:solidFill>
            <a:srgbClr val="F0FDF4"/>
          </a:solidFill>
          <a:ln w="317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53312"/>
            <a:ext cx="2834640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807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  f(x) = √x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865376"/>
            <a:ext cx="265176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836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215798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≥ 0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542032"/>
            <a:ext cx="2651760" cy="603504"/>
          </a:xfrm>
          <a:prstGeom prst="rect">
            <a:avLst/>
          </a:prstGeom>
          <a:solidFill>
            <a:srgbClr val="F0FDF4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5603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83464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≥ 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218688"/>
            <a:ext cx="265176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2369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351129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suave →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895344"/>
            <a:ext cx="2651760" cy="603504"/>
          </a:xfrm>
          <a:prstGeom prst="rect">
            <a:avLst/>
          </a:prstGeom>
          <a:solidFill>
            <a:srgbClr val="F0FDF4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9136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" y="418795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Crece lentamente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18688" y="1353312"/>
            <a:ext cx="2834640" cy="3520440"/>
          </a:xfrm>
          <a:prstGeom prst="rect">
            <a:avLst/>
          </a:prstGeom>
          <a:solidFill>
            <a:srgbClr val="FFF1F2"/>
          </a:solidFill>
          <a:ln w="3175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18688" y="1353312"/>
            <a:ext cx="2834640" cy="43891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13807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f(x) = |x|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310128" y="1865376"/>
            <a:ext cx="265176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E11D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18836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215798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ℝ (todos)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310128" y="2542032"/>
            <a:ext cx="2651760" cy="603504"/>
          </a:xfrm>
          <a:prstGeom prst="rect">
            <a:avLst/>
          </a:prstGeom>
          <a:solidFill>
            <a:srgbClr val="FFF1F2"/>
          </a:solidFill>
          <a:ln w="10160">
            <a:solidFill>
              <a:srgbClr val="E11D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25603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283464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≥ 0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10128" y="3218688"/>
            <a:ext cx="265176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E11D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32369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83280" y="351129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V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310128" y="3895344"/>
            <a:ext cx="2651760" cy="603504"/>
          </a:xfrm>
          <a:prstGeom prst="rect">
            <a:avLst/>
          </a:prstGeom>
          <a:solidFill>
            <a:srgbClr val="FFF1F2"/>
          </a:solidFill>
          <a:ln w="10160">
            <a:solidFill>
              <a:srgbClr val="E11D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39136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83280" y="418795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Simétrica en x=0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63056" y="1353312"/>
            <a:ext cx="2834640" cy="3520440"/>
          </a:xfrm>
          <a:prstGeom prst="rect">
            <a:avLst/>
          </a:prstGeom>
          <a:solidFill>
            <a:srgbClr val="F5F3FF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63056" y="1353312"/>
            <a:ext cx="283464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54496" y="13807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 f(x) = 1/x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254496" y="1865376"/>
            <a:ext cx="265176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27648" y="18836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27648" y="215798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≠ 0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254496" y="2542032"/>
            <a:ext cx="2651760" cy="603504"/>
          </a:xfrm>
          <a:prstGeom prst="rect">
            <a:avLst/>
          </a:prstGeom>
          <a:solidFill>
            <a:srgbClr val="F5F3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27648" y="25603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27648" y="283464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≠ 0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54496" y="3218688"/>
            <a:ext cx="265176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27648" y="32369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327648" y="351129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Hipérbola ∞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254496" y="3895344"/>
            <a:ext cx="2651760" cy="603504"/>
          </a:xfrm>
          <a:prstGeom prst="rect">
            <a:avLst/>
          </a:prstGeom>
          <a:solidFill>
            <a:srgbClr val="F5F3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27648" y="39136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327648" y="418795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Asíntotas x=0, y=0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320040" y="4919472"/>
            <a:ext cx="8503920" cy="23774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491947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Clave rápida: Si ves √ piensa 'dominio restringido' · Si ves | | piensa 'V' · Si ves 1/x piensa 'asíntota'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↕↔  Transformaciones — Traslaciones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326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transformaciones son 'movimientos' de la gráfica. Aprenderlas con una función es aprenderlas para TODAS.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8503920" cy="457200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base:  f(x) = x²    (usamos la parábola, pero aplica a cualquier función)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901952"/>
            <a:ext cx="4160520" cy="1371600"/>
          </a:xfrm>
          <a:prstGeom prst="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901952"/>
            <a:ext cx="416052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3852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TRASLACIÓN VERTICAL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304288"/>
            <a:ext cx="193852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232257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+ k   →  sube k unidades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95728" y="2304288"/>
            <a:ext cx="193852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32304" y="232257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− k   →  baja k unidades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279806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x² + 3  →  parábola sube 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14016" y="279806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x² − 2  →  parábola baja 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1901952"/>
            <a:ext cx="4160520" cy="137160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901952"/>
            <a:ext cx="416052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93852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TRASLACIÓN HORIZONTAL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46320" y="2304288"/>
            <a:ext cx="193852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82896" y="232257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 − h)  →  se mueve DERECHA 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76288" y="2304288"/>
            <a:ext cx="193852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12864" y="232257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 + h)  →  se mueve IZQUIERDA 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64608" y="279806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(x−4)²  →  vértice en (4,0)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94576" y="279806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(x+3)²  →  vértice en (−3,0)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364992"/>
            <a:ext cx="4160520" cy="1371600"/>
          </a:xfrm>
          <a:prstGeom prst="rect">
            <a:avLst/>
          </a:prstGeom>
          <a:solidFill>
            <a:srgbClr val="FFF1F2"/>
          </a:solidFill>
          <a:ln w="254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364992"/>
            <a:ext cx="4160520" cy="34747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015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65760" y="3767328"/>
            <a:ext cx="193852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" y="378561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−f(x)  →  voltea sobre eje X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95728" y="3767328"/>
            <a:ext cx="193852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32304" y="378561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f(−x)  →  voltea sobre eje 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4048" y="426110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−x²  →  parábola abre abajo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414016" y="426110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√(−x)  →  espejo en 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3364992"/>
            <a:ext cx="4160520" cy="1371600"/>
          </a:xfrm>
          <a:prstGeom prst="rect">
            <a:avLst/>
          </a:prstGeom>
          <a:solidFill>
            <a:srgbClr val="F5F3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364992"/>
            <a:ext cx="41605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4015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ESTIRAMIENTO / COMPRESIÓN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846320" y="3767328"/>
            <a:ext cx="193852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82896" y="378561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a·f(x), a&gt;1  →  más angosta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876288" y="3767328"/>
            <a:ext cx="193852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12864" y="378561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a·f(x), 0&lt;a&lt;1  →  más ancha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64608" y="426110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2x²  →  parábola delgada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894576" y="426110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(1/2)x²  →  parábola ancha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oro: cambios AFUERA del paréntesis → mueven vertical. ADENTRO → mueven horizontal (¡al revés!).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Viendo las transformaciones — f(x) = x²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326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Empezamos con la parábola base (azul) y aplicamos cada transformación para ver el efecto visual.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89888"/>
            <a:ext cx="4160520" cy="1719072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89888"/>
            <a:ext cx="416052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264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x² + 3  (sube 3)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08960" y="14447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Vértice: (0, 3)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20240" y="1801368"/>
            <a:ext cx="27432" cy="10972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26464" y="2898648"/>
            <a:ext cx="16459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4484693">
            <a:off x="1397203" y="1901391"/>
            <a:ext cx="152911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4409276">
            <a:off x="1437437" y="2048914"/>
            <a:ext cx="141559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4320760">
            <a:off x="1477670" y="2184636"/>
            <a:ext cx="130287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4215563">
            <a:off x="1517904" y="2308555"/>
            <a:ext cx="119118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4088747">
            <a:off x="1558138" y="2420673"/>
            <a:ext cx="108083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3933363">
            <a:off x="1598371" y="2520989"/>
            <a:ext cx="97229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3739445">
            <a:off x="1638605" y="2609503"/>
            <a:ext cx="86623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3492476">
            <a:off x="1678838" y="2686215"/>
            <a:ext cx="76368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3171199">
            <a:off x="1719072" y="2751125"/>
            <a:ext cx="66628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745231">
            <a:off x="1759306" y="2804233"/>
            <a:ext cx="57663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175230">
            <a:off x="1799539" y="2845540"/>
            <a:ext cx="49893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424970">
            <a:off x="1839773" y="2875044"/>
            <a:ext cx="43956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500633">
            <a:off x="1880006" y="2892747"/>
            <a:ext cx="40664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-500633">
            <a:off x="1920240" y="2898648"/>
            <a:ext cx="40664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-1424970">
            <a:off x="1960474" y="2892747"/>
            <a:ext cx="43956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-2175230">
            <a:off x="2000707" y="2875044"/>
            <a:ext cx="49893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-2745231">
            <a:off x="2040941" y="2845540"/>
            <a:ext cx="57663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-3171199">
            <a:off x="2081174" y="2804233"/>
            <a:ext cx="66628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-3492476">
            <a:off x="2121408" y="2751125"/>
            <a:ext cx="76368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-3739445">
            <a:off x="2161642" y="2686215"/>
            <a:ext cx="86623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-3933363">
            <a:off x="2201875" y="2609503"/>
            <a:ext cx="97229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-4088747">
            <a:off x="2242109" y="2520989"/>
            <a:ext cx="108083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-4215563">
            <a:off x="2282342" y="2420673"/>
            <a:ext cx="119118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-4320760">
            <a:off x="2322576" y="2308555"/>
            <a:ext cx="130287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-4409276">
            <a:off x="2362810" y="2184636"/>
            <a:ext cx="141559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-4484693">
            <a:off x="2403043" y="2048914"/>
            <a:ext cx="152911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3739445">
            <a:off x="1638605" y="1786543"/>
            <a:ext cx="86623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3492476">
            <a:off x="1678838" y="1863255"/>
            <a:ext cx="7636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3171199">
            <a:off x="1719072" y="1928165"/>
            <a:ext cx="6662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2745231">
            <a:off x="1759306" y="1981273"/>
            <a:ext cx="57663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2175230">
            <a:off x="1799539" y="2022580"/>
            <a:ext cx="49893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1424970">
            <a:off x="1839773" y="2052084"/>
            <a:ext cx="43956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500633">
            <a:off x="1880006" y="2069787"/>
            <a:ext cx="40664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-500633">
            <a:off x="1920240" y="2075688"/>
            <a:ext cx="40664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-1424970">
            <a:off x="1960474" y="2069787"/>
            <a:ext cx="43956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-2175230">
            <a:off x="2000707" y="2052084"/>
            <a:ext cx="49893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-2745231">
            <a:off x="2040941" y="2022580"/>
            <a:ext cx="57663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-3171199">
            <a:off x="2081174" y="1981273"/>
            <a:ext cx="6662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-3492476">
            <a:off x="2121408" y="1928165"/>
            <a:ext cx="7636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-3739445">
            <a:off x="2161642" y="1863255"/>
            <a:ext cx="86623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47088" y="2002536"/>
            <a:ext cx="146304" cy="146304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287121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Azul: base x²  /  Color: transformada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754880" y="1389888"/>
            <a:ext cx="4160520" cy="1719072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754880" y="1389888"/>
            <a:ext cx="416052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46320" y="14264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(x−2)²  (derecha 2)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7589520" y="14447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Vértice: (2, 0)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400800" y="1801368"/>
            <a:ext cx="27432" cy="10972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907024" y="2898648"/>
            <a:ext cx="16459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4484693">
            <a:off x="5877763" y="1901391"/>
            <a:ext cx="152911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4409276">
            <a:off x="5917997" y="2048914"/>
            <a:ext cx="141559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4320760">
            <a:off x="5958230" y="2184636"/>
            <a:ext cx="130287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4215563">
            <a:off x="5998464" y="2308555"/>
            <a:ext cx="119118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4088747">
            <a:off x="6038698" y="2420673"/>
            <a:ext cx="108083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3933363">
            <a:off x="6078931" y="2520989"/>
            <a:ext cx="97229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3739445">
            <a:off x="6119165" y="2609503"/>
            <a:ext cx="86623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3492476">
            <a:off x="6159398" y="2686215"/>
            <a:ext cx="76368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3171199">
            <a:off x="6199632" y="2751125"/>
            <a:ext cx="66628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2745231">
            <a:off x="6239866" y="2804233"/>
            <a:ext cx="57663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2175230">
            <a:off x="6280099" y="2845540"/>
            <a:ext cx="49893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1424970">
            <a:off x="6320333" y="2875044"/>
            <a:ext cx="43956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500633">
            <a:off x="6360566" y="2892747"/>
            <a:ext cx="40664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rot="-500633">
            <a:off x="6400800" y="2898648"/>
            <a:ext cx="40664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-1424970">
            <a:off x="6441034" y="2892747"/>
            <a:ext cx="43956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-2175230">
            <a:off x="6481267" y="2875044"/>
            <a:ext cx="49893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rot="-2745231">
            <a:off x="6521501" y="2845540"/>
            <a:ext cx="57663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rot="-3171199">
            <a:off x="6561734" y="2804233"/>
            <a:ext cx="66628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rot="-3492476">
            <a:off x="6601968" y="2751125"/>
            <a:ext cx="76368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rot="-3739445">
            <a:off x="6642202" y="2686215"/>
            <a:ext cx="86623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rot="-3933363">
            <a:off x="6682435" y="2609503"/>
            <a:ext cx="97229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rot="-4088747">
            <a:off x="6722669" y="2520989"/>
            <a:ext cx="108083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rot="-4215563">
            <a:off x="6762902" y="2420673"/>
            <a:ext cx="119118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rot="-4320760">
            <a:off x="6803136" y="2308555"/>
            <a:ext cx="130287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rot="-4409276">
            <a:off x="6843370" y="2184636"/>
            <a:ext cx="141559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rot="-4484693">
            <a:off x="6883603" y="2048914"/>
            <a:ext cx="152911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rot="4527107">
            <a:off x="6400800" y="1801368"/>
            <a:ext cx="160169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rot="4458600">
            <a:off x="6441034" y="1956401"/>
            <a:ext cx="148775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rot="4378768">
            <a:off x="6481267" y="2099633"/>
            <a:ext cx="13745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rot="4284662">
            <a:off x="6521501" y="2231063"/>
            <a:ext cx="126212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rot="4172264">
            <a:off x="6561734" y="2350691"/>
            <a:ext cx="115088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rot="4035995">
            <a:off x="6601968" y="2458517"/>
            <a:ext cx="104112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rot="3867952">
            <a:off x="6642202" y="2554541"/>
            <a:ext cx="93339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rot="3656724">
            <a:off x="6682435" y="2638763"/>
            <a:ext cx="8284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rot="3385626">
            <a:off x="6722669" y="2711184"/>
            <a:ext cx="72755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rot="3030329">
            <a:off x="6762902" y="2771802"/>
            <a:ext cx="6326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rot="2556843">
            <a:off x="6803136" y="2820619"/>
            <a:ext cx="5467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rot="1924440">
            <a:off x="6843370" y="2857634"/>
            <a:ext cx="47481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rot="1106097">
            <a:off x="6883603" y="2882847"/>
            <a:ext cx="4241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rot="137437">
            <a:off x="6923837" y="2896258"/>
            <a:ext cx="4026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rot="-852951">
            <a:off x="6964070" y="2897868"/>
            <a:ext cx="41505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876288" y="2825496"/>
            <a:ext cx="146304" cy="146304"/>
          </a:xfrm>
          <a:prstGeom prst="ellipse">
            <a:avLst/>
          </a:prstGeom>
          <a:solidFill>
            <a:srgbClr val="16A3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846320" y="287121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Azul: base x²  /  Color: transformada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274320" y="3218688"/>
            <a:ext cx="4160520" cy="1719072"/>
          </a:xfrm>
          <a:prstGeom prst="rect">
            <a:avLst/>
          </a:prstGeom>
          <a:solidFill>
            <a:srgbClr val="FFFFFF"/>
          </a:solidFill>
          <a:ln w="254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274320" y="3218688"/>
            <a:ext cx="4160520" cy="34747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65760" y="32552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−x²  (refleja en X)</a:t>
            </a:r>
            <a:endParaRPr lang="en-US" sz="1250" dirty="0"/>
          </a:p>
        </p:txBody>
      </p:sp>
      <p:sp>
        <p:nvSpPr>
          <p:cNvPr id="105" name="Text 103"/>
          <p:cNvSpPr/>
          <p:nvPr/>
        </p:nvSpPr>
        <p:spPr>
          <a:xfrm>
            <a:off x="3108960" y="32735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hacia abajo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1920240" y="3630168"/>
            <a:ext cx="27432" cy="10972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426464" y="4727448"/>
            <a:ext cx="16459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rot="4484693">
            <a:off x="1397203" y="3730191"/>
            <a:ext cx="152911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rot="4409276">
            <a:off x="1437437" y="3877714"/>
            <a:ext cx="141559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rot="4320760">
            <a:off x="1477670" y="4013436"/>
            <a:ext cx="130287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rot="4215563">
            <a:off x="1517904" y="4137355"/>
            <a:ext cx="119118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rot="4088747">
            <a:off x="1558138" y="4249473"/>
            <a:ext cx="108083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rot="3933363">
            <a:off x="1598371" y="4349789"/>
            <a:ext cx="97229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rot="3739445">
            <a:off x="1638605" y="4438303"/>
            <a:ext cx="86623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rot="3492476">
            <a:off x="1678838" y="4515015"/>
            <a:ext cx="76368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rot="3171199">
            <a:off x="1719072" y="4579925"/>
            <a:ext cx="66628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rot="2745231">
            <a:off x="1759306" y="4633033"/>
            <a:ext cx="57663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rot="2175230">
            <a:off x="1799539" y="4674340"/>
            <a:ext cx="49893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rot="1424970">
            <a:off x="1839773" y="4703844"/>
            <a:ext cx="43956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rot="500633">
            <a:off x="1880006" y="4721547"/>
            <a:ext cx="40664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rot="-500633">
            <a:off x="1920240" y="4727448"/>
            <a:ext cx="40664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rot="-1424970">
            <a:off x="1960474" y="4721547"/>
            <a:ext cx="43956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rot="-2175230">
            <a:off x="2000707" y="4703844"/>
            <a:ext cx="49893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rot="-2745231">
            <a:off x="2040941" y="4674340"/>
            <a:ext cx="57663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rot="-3171199">
            <a:off x="2081174" y="4633033"/>
            <a:ext cx="66628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rot="-3492476">
            <a:off x="2121408" y="4579925"/>
            <a:ext cx="76368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rot="-3739445">
            <a:off x="2161642" y="4515015"/>
            <a:ext cx="86623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rot="-3933363">
            <a:off x="2201875" y="4438303"/>
            <a:ext cx="97229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 rot="-4088747">
            <a:off x="2242109" y="4349789"/>
            <a:ext cx="108083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rot="-4215563">
            <a:off x="2282342" y="4249473"/>
            <a:ext cx="119118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rot="-4320760">
            <a:off x="2322576" y="4137355"/>
            <a:ext cx="130287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rot="-4409276">
            <a:off x="2362810" y="4013436"/>
            <a:ext cx="141559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rot="-4484693">
            <a:off x="2403043" y="3877714"/>
            <a:ext cx="152911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rot="-3171199">
            <a:off x="1719072" y="4874971"/>
            <a:ext cx="66628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rot="-2745231">
            <a:off x="1759306" y="4821863"/>
            <a:ext cx="57663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rot="-2175230">
            <a:off x="1799539" y="4780556"/>
            <a:ext cx="49893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rot="-1424970">
            <a:off x="1839773" y="4751052"/>
            <a:ext cx="43956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rot="-500633">
            <a:off x="1880006" y="4733349"/>
            <a:ext cx="40664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rot="500633">
            <a:off x="1920240" y="4727448"/>
            <a:ext cx="40664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rot="1424970">
            <a:off x="1960474" y="4733349"/>
            <a:ext cx="43956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 rot="2175230">
            <a:off x="2000707" y="4751052"/>
            <a:ext cx="49893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 rot="2745231">
            <a:off x="2040941" y="4780556"/>
            <a:ext cx="57663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rot="3171199">
            <a:off x="2081174" y="4821863"/>
            <a:ext cx="66628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847088" y="4654296"/>
            <a:ext cx="146304" cy="146304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365760" y="470001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Azul: base x²  /  Color: transformada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4754880" y="3218688"/>
            <a:ext cx="4160520" cy="1719072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47" name="Shape 145"/>
          <p:cNvSpPr/>
          <p:nvPr/>
        </p:nvSpPr>
        <p:spPr>
          <a:xfrm>
            <a:off x="4754880" y="3218688"/>
            <a:ext cx="41605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4846320" y="32552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2x²  (más angosta)</a:t>
            </a:r>
            <a:endParaRPr lang="en-US" sz="1250" dirty="0"/>
          </a:p>
        </p:txBody>
      </p:sp>
      <p:sp>
        <p:nvSpPr>
          <p:cNvPr id="149" name="Text 147"/>
          <p:cNvSpPr/>
          <p:nvPr/>
        </p:nvSpPr>
        <p:spPr>
          <a:xfrm>
            <a:off x="7589520" y="32735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estrecha</a:t>
            </a:r>
            <a:endParaRPr lang="en-US" sz="1000" dirty="0"/>
          </a:p>
        </p:txBody>
      </p:sp>
      <p:sp>
        <p:nvSpPr>
          <p:cNvPr id="150" name="Shape 148"/>
          <p:cNvSpPr/>
          <p:nvPr/>
        </p:nvSpPr>
        <p:spPr>
          <a:xfrm>
            <a:off x="6400800" y="3630168"/>
            <a:ext cx="27432" cy="10972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907024" y="4727448"/>
            <a:ext cx="16459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 rot="4484693">
            <a:off x="5877763" y="3730191"/>
            <a:ext cx="152911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 rot="4409276">
            <a:off x="5917997" y="3877714"/>
            <a:ext cx="141559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 rot="4320760">
            <a:off x="5958230" y="4013436"/>
            <a:ext cx="130287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 rot="4215563">
            <a:off x="5998464" y="4137355"/>
            <a:ext cx="119118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rot="4088747">
            <a:off x="6038698" y="4249473"/>
            <a:ext cx="108083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 rot="3933363">
            <a:off x="6078931" y="4349789"/>
            <a:ext cx="97229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 rot="3739445">
            <a:off x="6119165" y="4438303"/>
            <a:ext cx="86623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 rot="3492476">
            <a:off x="6159398" y="4515015"/>
            <a:ext cx="76368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 rot="3171199">
            <a:off x="6199632" y="4579925"/>
            <a:ext cx="66628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 rot="2745231">
            <a:off x="6239866" y="4633033"/>
            <a:ext cx="57663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 rot="2175230">
            <a:off x="6280099" y="4674340"/>
            <a:ext cx="49893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 rot="1424970">
            <a:off x="6320333" y="4703844"/>
            <a:ext cx="43956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 rot="500633">
            <a:off x="6360566" y="4721547"/>
            <a:ext cx="40664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 rot="-500633">
            <a:off x="6400800" y="4727448"/>
            <a:ext cx="40664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 rot="-1424970">
            <a:off x="6441034" y="4721547"/>
            <a:ext cx="43956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 rot="-2175230">
            <a:off x="6481267" y="4703844"/>
            <a:ext cx="49893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 rot="-2745231">
            <a:off x="6521501" y="4674340"/>
            <a:ext cx="57663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 rot="-3171199">
            <a:off x="6561734" y="4633033"/>
            <a:ext cx="66628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 rot="-3492476">
            <a:off x="6601968" y="4579925"/>
            <a:ext cx="76368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 rot="-3739445">
            <a:off x="6642202" y="4515015"/>
            <a:ext cx="86623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 rot="-3933363">
            <a:off x="6682435" y="4438303"/>
            <a:ext cx="97229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 rot="-4088747">
            <a:off x="6722669" y="4349789"/>
            <a:ext cx="108083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 rot="-4215563">
            <a:off x="6762902" y="4249473"/>
            <a:ext cx="119118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 rot="-4320760">
            <a:off x="6803136" y="4137355"/>
            <a:ext cx="130287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 rot="-4409276">
            <a:off x="6843370" y="4013436"/>
            <a:ext cx="141559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 rot="-4484693">
            <a:off x="6883603" y="3877714"/>
            <a:ext cx="152911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 rot="4719637">
            <a:off x="6038698" y="3771498"/>
            <a:ext cx="204626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 rot="4631744">
            <a:off x="6078931" y="3972129"/>
            <a:ext cx="181542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 rot="4518345">
            <a:off x="6119165" y="4149157"/>
            <a:ext cx="158612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 rot="4366853">
            <a:off x="6159398" y="4302581"/>
            <a:ext cx="135912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 rot="4155235">
            <a:off x="6199632" y="4432402"/>
            <a:ext cx="113581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 rot="3841999">
            <a:off x="6239866" y="4538618"/>
            <a:ext cx="91889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 rot="3342787">
            <a:off x="6280099" y="4621231"/>
            <a:ext cx="7142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 rot="2480867">
            <a:off x="6320333" y="4680241"/>
            <a:ext cx="53594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 rot="980890">
            <a:off x="6360566" y="4715646"/>
            <a:ext cx="41929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 rot="-980890">
            <a:off x="6400800" y="4727448"/>
            <a:ext cx="41929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 rot="-2480867">
            <a:off x="6441034" y="4715646"/>
            <a:ext cx="53594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 rot="-3342787">
            <a:off x="6481267" y="4680241"/>
            <a:ext cx="7142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 rot="-3841999">
            <a:off x="6521501" y="4621231"/>
            <a:ext cx="91889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 rot="-4155235">
            <a:off x="6561734" y="4538618"/>
            <a:ext cx="113581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 rot="-4366853">
            <a:off x="6601968" y="4432402"/>
            <a:ext cx="135912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 rot="-4518345">
            <a:off x="6642202" y="4302581"/>
            <a:ext cx="158612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 rot="-4631744">
            <a:off x="6682435" y="4149157"/>
            <a:ext cx="181542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 rot="-4719637">
            <a:off x="6722669" y="3972129"/>
            <a:ext cx="204626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327648" y="4654296"/>
            <a:ext cx="146304" cy="146304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4846320" y="470001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Azul: base x²  /  Color: transformada</a:t>
            </a:r>
            <a:endParaRPr lang="en-US" sz="800" dirty="0"/>
          </a:p>
        </p:txBody>
      </p:sp>
      <p:sp>
        <p:nvSpPr>
          <p:cNvPr id="198" name="Shape 196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dibuja la función BASE primero, luego aplica la transformación. ¡El orden importa!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Ejercicios — Sesión 5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92024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1042416"/>
            <a:ext cx="14630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10424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MODELACIÓN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01498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  La rampa de skate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453896"/>
            <a:ext cx="393192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altura de un salto en skate sigue h(x) = √(4x), donde x son los metros de carrera. ¿Cuánto mide el salto si toma 9 m de carrera? ¿Cuál es el dominio razonable?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60520" cy="1920240"/>
          </a:xfrm>
          <a:prstGeom prst="rect">
            <a:avLst/>
          </a:prstGeom>
          <a:solidFill>
            <a:srgbClr val="FFF1F2"/>
          </a:solidFill>
          <a:ln w="254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4160520" cy="43891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60920" y="1042416"/>
            <a:ext cx="14630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0920" y="10424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46320" y="101498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Error en la fábrica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1453896"/>
            <a:ext cx="393192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pieza debe medir 15 cm. El error se mide con E(x) = |x − 15|. Si una pieza mide 12.3 cm, ¿cuál es el error? ¿Para qué valores de x el error es menor a 0.5 cm?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990088"/>
            <a:ext cx="4160520" cy="1920240"/>
          </a:xfrm>
          <a:prstGeom prst="rect">
            <a:avLst/>
          </a:prstGeom>
          <a:solidFill>
            <a:srgbClr val="F5F3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90088"/>
            <a:ext cx="41605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80360" y="3072384"/>
            <a:ext cx="14630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0360" y="30723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RAZONAMIENTO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304495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 El precio y la demanda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4048" y="3483864"/>
            <a:ext cx="393192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precio de un producto sigue p(x) = 1200/x (x = unidades vendidas), ¿qué pasa con el precio cuando venden más unidades? Calcula p(10), p(50), p(100). ¿Cuál es el dominio?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2990088"/>
            <a:ext cx="4160520" cy="1920240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990088"/>
            <a:ext cx="41605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0920" y="3072384"/>
            <a:ext cx="14630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30723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TRANSFORMACIONES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46320" y="304495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 Diseña la transformación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64608" y="3483864"/>
            <a:ext cx="393192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Partiendo de f(x) = x², escribe la función que: (a) sube 5 unidades, (b) se mueve 3 a la derecha, (c) se refleja en el eje x y baja 2. Grafica cada una indicando el vértice.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 en parejas · Grafica siempre · Señala el dominio, rango y cualquier punto especial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Lo que aprendimos hoy — Sesión 5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94944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30352" cy="6949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530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87552" y="914400"/>
            <a:ext cx="7699248" cy="6949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f(x)=√x: dominio x≥0, rango f(x)≥0. Crece lentamente.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65760" y="1700784"/>
            <a:ext cx="8412480" cy="694944"/>
          </a:xfrm>
          <a:prstGeom prst="rect">
            <a:avLst/>
          </a:prstGeom>
          <a:solidFill>
            <a:srgbClr val="FFF1F2"/>
          </a:solidFill>
          <a:ln w="1905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00784"/>
            <a:ext cx="530352" cy="69494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00784"/>
            <a:ext cx="530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87552" y="1700784"/>
            <a:ext cx="7699248" cy="6949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f(x)=|x|: forma de V, siempre positiva, simétrica en x=0.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65760" y="2487168"/>
            <a:ext cx="8412480" cy="694944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487168"/>
            <a:ext cx="530352" cy="6949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87168"/>
            <a:ext cx="530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÷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87552" y="2487168"/>
            <a:ext cx="7699248" cy="6949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f(x)=1/x: hipérbola, asíntotas x=0 e y=0. Dominio x≠0.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365760" y="3273552"/>
            <a:ext cx="8412480" cy="694944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73552"/>
            <a:ext cx="530352" cy="6949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73552"/>
            <a:ext cx="530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↕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87552" y="3273552"/>
            <a:ext cx="7699248" cy="6949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Traslación vertical ±k: sube/baja. Horizontal ±h: izq/der (al revés).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365760" y="4059936"/>
            <a:ext cx="8412480" cy="694944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059936"/>
            <a:ext cx="530352" cy="69494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59936"/>
            <a:ext cx="530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↔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87552" y="4059936"/>
            <a:ext cx="7699248" cy="6949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 −f(x): voltea en X. f(−x): voltea en Y. a·f(x): estira/comprime.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365760" y="4846320"/>
            <a:ext cx="8412480" cy="310896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4632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sesión: Operaciones con funciones y composición f(g(x))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5 - Otras Funciones y Transformaciones</dc:title>
  <dc:subject>PptxGenJS Presentation</dc:subject>
  <dc:creator>PptxGenJS</dc:creator>
  <cp:lastModifiedBy>PptxGenJS</cp:lastModifiedBy>
  <cp:revision>1</cp:revision>
  <dcterms:created xsi:type="dcterms:W3CDTF">2026-02-18T22:51:59Z</dcterms:created>
  <dcterms:modified xsi:type="dcterms:W3CDTF">2026-02-18T22:51:59Z</dcterms:modified>
</cp:coreProperties>
</file>