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-365760"/>
            <a:ext cx="4114800" cy="4114800"/>
          </a:xfrm>
          <a:prstGeom prst="ellipse">
            <a:avLst/>
          </a:prstGeom>
          <a:solidFill>
            <a:srgbClr val="FFEDD5">
              <a:alpha val="75000"/>
            </a:srgbClr>
          </a:solidFill>
          <a:ln w="12700">
            <a:solidFill>
              <a:srgbClr val="FFEDD5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FEF3C7">
              <a:alpha val="80000"/>
            </a:srgbClr>
          </a:solidFill>
          <a:ln w="12700">
            <a:solidFill>
              <a:srgbClr val="FEF3C7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474720"/>
            <a:ext cx="2103120" cy="2103120"/>
          </a:xfrm>
          <a:prstGeom prst="ellipse">
            <a:avLst/>
          </a:prstGeom>
          <a:solidFill>
            <a:srgbClr val="DCFCE7">
              <a:alpha val="80000"/>
            </a:srgbClr>
          </a:solidFill>
          <a:ln w="12700">
            <a:solidFill>
              <a:srgbClr val="DCFCE7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05840"/>
            <a:ext cx="82296" cy="2834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2011680" cy="384048"/>
          </a:xfrm>
          <a:prstGeom prst="rect">
            <a:avLst/>
          </a:prstGeom>
          <a:solidFill>
            <a:srgbClr val="FFEDD5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960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8 DE 8 · FINAL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MODELACIÓN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FUNCIONES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77240" y="3456432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problema real → a la función → a la solución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3950208"/>
            <a:ext cx="1883664" cy="36576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95020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Economía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88920" y="3950208"/>
            <a:ext cx="1883664" cy="36576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395020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Física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3950208"/>
            <a:ext cx="1883664" cy="36576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3950208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Tecnología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4389120"/>
            <a:ext cx="1883664" cy="36576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8912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Ecología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88920" y="4389120"/>
            <a:ext cx="1883664" cy="36576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438912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Salud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4389120"/>
            <a:ext cx="1883664" cy="36576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438912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Proyecto Final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Público · Bello, Antioquia · Matemáticas Grado 10°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¿Qué es modelar con funciones?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9264"/>
            <a:ext cx="8412480" cy="566928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8138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es usar una función matemática para representar una situación real, predecir valores y tomar decisiones.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" y="1645920"/>
            <a:ext cx="1600200" cy="320040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645920"/>
            <a:ext cx="16002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" y="168249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9536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7472" y="2615184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944368"/>
            <a:ext cx="1453896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 situación real, las variables y qué queremos predecir o calcular.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828800" y="26517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11680" y="1645920"/>
            <a:ext cx="1600200" cy="320040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0" y="1645920"/>
            <a:ext cx="16002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70048" y="168249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70048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78608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66544" y="2615184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Recopilar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84832" y="2944368"/>
            <a:ext cx="1453896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Reunir datos, medir, buscar patrones. Crear una tabla de valores.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47872" y="26517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730752" y="1645920"/>
            <a:ext cx="1600200" cy="320040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30752" y="1645920"/>
            <a:ext cx="160020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168249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97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🔣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85616" y="2615184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03904" y="2944368"/>
            <a:ext cx="1453896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la función matemática que mejor describe los datos o la situación.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66944" y="26517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49824" y="1645920"/>
            <a:ext cx="1600200" cy="3200400"/>
          </a:xfrm>
          <a:prstGeom prst="rect">
            <a:avLst/>
          </a:prstGeom>
          <a:solidFill>
            <a:srgbClr val="F5F3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49824" y="1645920"/>
            <a:ext cx="1600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08192" y="168249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01675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🧮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04688" y="2615184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522976" y="2944368"/>
            <a:ext cx="1453896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la función para responder preguntas: predecir, optimizar, encontrar límites.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86016" y="26517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168896" y="1645920"/>
            <a:ext cx="1600200" cy="3200400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168896" y="1645920"/>
            <a:ext cx="1600200" cy="3840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27264" y="1682496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27264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73582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7223760" y="2615184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242048" y="2944368"/>
            <a:ext cx="1453896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los resultados del modelo con la realidad. ¿Tiene sentido? ¿Es preciso?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no tiene que ser perfecto — tiene que ser ÚTIL. Toda la ciencia y la economía funcionan con modelos.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Modelación económica — Negocio en Bello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Un estudiante vende obleas en el recreo. Analicemos su negocio con funciones.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8503920" cy="603504"/>
          </a:xfrm>
          <a:prstGeom prst="rect">
            <a:avLst/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898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Datos: Costo fijo semanal (materiales): $18.000 · Costo por oblea: $800 · Precio de venta: $1.500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" y="2048256"/>
            <a:ext cx="2798064" cy="2240280"/>
          </a:xfrm>
          <a:prstGeom prst="rect">
            <a:avLst/>
          </a:prstGeom>
          <a:solidFill>
            <a:srgbClr val="FFF1F2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2048256"/>
            <a:ext cx="2798064" cy="3840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07568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total C(x)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84048" y="2487168"/>
            <a:ext cx="26151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505456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C(x) = 800x + 18.000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2336" y="3017520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número de obleas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fijo + costo variable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" y="3621024"/>
            <a:ext cx="2596896" cy="603504"/>
          </a:xfrm>
          <a:prstGeom prst="rect">
            <a:avLst/>
          </a:prstGeom>
          <a:solidFill>
            <a:srgbClr val="E11D48">
              <a:alpha val="85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639312"/>
            <a:ext cx="2560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C(30)=800(30)+18.000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$42.000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4408" y="2048256"/>
            <a:ext cx="2798064" cy="224028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64408" y="2048256"/>
            <a:ext cx="2798064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207568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total I(x)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355848" y="2487168"/>
            <a:ext cx="26151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92424" y="2505456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I(x) = 1.500x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74136" y="3017520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× unidades vendidas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 x ≥ 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74136" y="3621024"/>
            <a:ext cx="2596896" cy="603504"/>
          </a:xfrm>
          <a:prstGeom prst="rect">
            <a:avLst/>
          </a:prstGeom>
          <a:solidFill>
            <a:srgbClr val="2563EB">
              <a:alpha val="85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0712" y="3639312"/>
            <a:ext cx="2560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I(30)=1.500(30)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$45.000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36208" y="2048256"/>
            <a:ext cx="2798064" cy="224028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36208" y="2048256"/>
            <a:ext cx="2798064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2075688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 G(x)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327648" y="2487168"/>
            <a:ext cx="26151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4224" y="2505456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G(x) = I(x) − C(x)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G(x) = 700x − 18.000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45936" y="3017520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Ganancia = Ingreso − Costo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(función lineal con m=700)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45936" y="3621024"/>
            <a:ext cx="2596896" cy="603504"/>
          </a:xfrm>
          <a:prstGeom prst="rect">
            <a:avLst/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3639312"/>
            <a:ext cx="256032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G(30)=700(30)−18.000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$3.000 ✅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352544"/>
            <a:ext cx="8503920" cy="493776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7200" y="4379976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PUNTO DE EQUILIBRIO: G(x)=0  →  700x−18.000=0  →  x = 18.000/700 ≈ 26 obleas  (a partir de la oblea 26, hay ganancia)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equilibrio responde: '¿cuánto necesito vender para no perder?' — clave en cualquier negocio.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Modelación física — Movimiento y caída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funciones cuadráticas modelan el movimiento de objetos bajo la gravedad. Esto es física aplicada.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8503920" cy="530352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898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general: h(t) = −(g/2)t² + v₀t + h₀    donde g=9.8 m/s², v₀=velocidad inicial, h₀=altura inicial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65960"/>
            <a:ext cx="8503920" cy="137160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65960"/>
            <a:ext cx="850392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200253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  Tiro parabólico — partido en el parque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47488" y="2002536"/>
            <a:ext cx="3639312" cy="310896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2020824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h(t) = −4.9t² + 14t + 1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4048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v₀ = 14 m/s (velocidad inicial)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679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h₀ = 1 m (a 1 m de altura al patear)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9535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 = 9.8 m/s² (gravedad)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39312" y="2386584"/>
            <a:ext cx="25786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2464" y="24048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¿Altura máxima?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12464" y="264261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t_v = −14/(2·−4.9) = 1.43 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h(1.43) ≈ 11 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2386584"/>
            <a:ext cx="2450592" cy="804672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404872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¿Cuándo cae al suelo?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64224" y="2642616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−4.9t²+14t+1=0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≈ 2.93 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429000"/>
            <a:ext cx="8503920" cy="1371600"/>
          </a:xfrm>
          <a:prstGeom prst="rect">
            <a:avLst/>
          </a:prstGeom>
          <a:solidFill>
            <a:srgbClr val="FFF1F2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429000"/>
            <a:ext cx="8503920" cy="3840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46557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🪂  Salto desde un edificio (paracaídas)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47488" y="3465576"/>
            <a:ext cx="3639312" cy="310896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483864"/>
            <a:ext cx="3602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h(t) = −4.9t² + 0t + 120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8679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v₀ = 0 (cae desde reposo)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1422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h₀ = 120 m (edificio 40 pisos)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4165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Paracaídas abre a t=3 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39312" y="3849624"/>
            <a:ext cx="257860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12464" y="386791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¿Altura a los 3 s?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12464" y="4105656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h(3)=−4.9(9)+120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75.9 m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09360" y="3849624"/>
            <a:ext cx="2450592" cy="804672"/>
          </a:xfrm>
          <a:prstGeom prst="rect">
            <a:avLst/>
          </a:prstGeom>
          <a:solidFill>
            <a:srgbClr val="E11D48">
              <a:alpha val="90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64224" y="3867912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Sin paracaídas, ¿cuándo cae?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64224" y="4105656"/>
            <a:ext cx="23408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−4.9t²+120=0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t² = 24.5 → t ≈ 4.95 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cuadrático de caída libre es una de las aplicaciones más importantes de la función cuadrática en la física.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Modelación tecnológica — Datos y redes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funciones también modelan fenómenos tecnológicos: crecimiento de usuarios, consumo de datos, velocidad de red.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1152144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85039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3990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Crecimiento de seguidores (exponencial lineal)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13248" y="1399032"/>
            <a:ext cx="3310128" cy="29260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31536" y="14081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S(t) = 80t + 500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773936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creador de contenido tiene 500 seguidores y gana 80 nuevos por semana.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041648" y="1755648"/>
            <a:ext cx="22402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17739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¿Seguidores en 3 meses (12 sem)?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2029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S(12)=80(12)+500 = 1.460 seguidores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0" y="1755648"/>
            <a:ext cx="22402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77393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¿En cuántas semanas llega a 5.000?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73952" y="2029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5000=80t+500 → t=56.25 → 57 semanas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615184"/>
            <a:ext cx="8503920" cy="1152144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615184"/>
            <a:ext cx="850392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6426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Consumo de datos por tramos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13248" y="2642616"/>
            <a:ext cx="3310128" cy="29260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31536" y="2651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C(g) por tramos (función escalonada)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017520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datos: primeros 5 GB a $12.000/GB, de 5 a 15 GB a $8.000/GB, más de 15 GB ilimitado a $98.000.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041648" y="2999232"/>
            <a:ext cx="22402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3017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¿Costo usando 8 GB?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0" y="32735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C(8)=5×12.000+3×8.000 = $84.000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0" y="2999232"/>
            <a:ext cx="22402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301752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¿Conviene ilimitado a partir de...?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73952" y="32735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98.000 = 60.000+8.000(g−5) → g=9.75 GB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858768"/>
            <a:ext cx="8503920" cy="1152144"/>
          </a:xfrm>
          <a:prstGeom prst="rect">
            <a:avLst/>
          </a:prstGeom>
          <a:solidFill>
            <a:srgbClr val="EEF2FF"/>
          </a:solidFill>
          <a:ln w="254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858768"/>
            <a:ext cx="8503920" cy="347472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886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Velocidad de descarga vs distancia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13248" y="3886200"/>
            <a:ext cx="3310128" cy="292608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31536" y="38953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V(d) = 1200/(d+2)  [función racional]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261104"/>
            <a:ext cx="3474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mayor distancia del router, menor velocidad: V(d) = 1200/(d + 2) Mbps.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041648" y="4242816"/>
            <a:ext cx="22402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42611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¿Velocidad a 3 m del router?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0" y="45171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V(3)=1200/(3+2) = 240 Mbps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0" y="4242816"/>
            <a:ext cx="22402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73952" y="42611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¿A qué distancia la velocidad baja a 60?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73952" y="45171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60=1200/(d+2) → d+2=20 → d=18 m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modelación con funciones racionales (1/x) es clave en telecomunicaciones, biología y economía.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4114800" cy="4114800"/>
          </a:xfrm>
          <a:prstGeom prst="ellipse">
            <a:avLst/>
          </a:prstGeom>
          <a:solidFill>
            <a:srgbClr val="FFEDD5">
              <a:alpha val="10000"/>
            </a:srgbClr>
          </a:solidFill>
          <a:ln w="12700">
            <a:solidFill>
              <a:srgbClr val="FFEDD5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EDE9FE">
              <a:alpha val="10000"/>
            </a:srgbClr>
          </a:solidFill>
          <a:ln w="12700">
            <a:solidFill>
              <a:srgbClr val="EDE9FE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2743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🏆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54864"/>
          </a:xfrm>
          <a:prstGeom prst="rect">
            <a:avLst/>
          </a:prstGeom>
          <a:solidFill>
            <a:srgbClr val="B45309">
              <a:alpha val="40000"/>
            </a:srgbClr>
          </a:solidFill>
          <a:ln w="12700">
            <a:solidFill>
              <a:srgbClr val="B45309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4358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DE LA SECUENCIA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modelo matemático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una situación real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292608" y="2852928"/>
            <a:ext cx="4206240" cy="841248"/>
          </a:xfrm>
          <a:prstGeom prst="rect">
            <a:avLst/>
          </a:prstGeom>
          <a:solidFill>
            <a:srgbClr val="1E3A5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2852928"/>
            <a:ext cx="502920" cy="8412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85292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9536" y="2898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9536" y="31821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una situación real de tu entorno (negocio, deporte, tecnología, naturaleza). Justifica por qué es interesante.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73168" y="2852928"/>
            <a:ext cx="4206240" cy="841248"/>
          </a:xfrm>
          <a:prstGeom prst="rect">
            <a:avLst/>
          </a:prstGeom>
          <a:solidFill>
            <a:srgbClr val="134E4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73168" y="2852928"/>
            <a:ext cx="50292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85292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🔣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40096" y="28986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40096" y="31821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qué tipo de función modela mejor tu situación. Escribe la fórmula con todos sus parámetros.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" y="3803904"/>
            <a:ext cx="4206240" cy="841248"/>
          </a:xfrm>
          <a:prstGeom prst="rect">
            <a:avLst/>
          </a:prstGeom>
          <a:solidFill>
            <a:srgbClr val="14532D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2608" y="3803904"/>
            <a:ext cx="502920" cy="8412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3803904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9536" y="38496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9536" y="4133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la tabla de valores, la gráfica y analiza dominio, rango, crecimiento, máximos/mínimos y asíntotas.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73168" y="3803904"/>
            <a:ext cx="4206240" cy="841248"/>
          </a:xfrm>
          <a:prstGeom prst="rect">
            <a:avLst/>
          </a:prstGeom>
          <a:solidFill>
            <a:srgbClr val="431407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73168" y="3803904"/>
            <a:ext cx="502920" cy="8412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3803904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0096" y="38496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0096" y="41330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al menos 3 preguntas concretas usando tu modelo. Interpreta cada resultado en contexto.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4828032"/>
            <a:ext cx="8503920" cy="237744"/>
          </a:xfrm>
          <a:prstGeom prst="rect">
            <a:avLst/>
          </a:prstGeom>
          <a:solidFill>
            <a:srgbClr val="B45309">
              <a:alpha val="20000"/>
            </a:srgbClr>
          </a:solidFill>
          <a:ln w="12700">
            <a:solidFill>
              <a:srgbClr val="B45309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82803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1 afiche o presentación de 5 diapositivas · Trabajo en grupos de 3 · Exposición oral de 5 minutos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Rúbrica de evaluación del proyecto final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claros y transparentes para que sepas exactamente qué se espera de tu proyecto.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85039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1371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52344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(4-5)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64024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BUENO (3)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775704" y="13716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 (1-2)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792224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792224"/>
            <a:ext cx="73152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2880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del problema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15768" y="1792224"/>
            <a:ext cx="1938528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70632" y="1828800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real clara, variables bien definidas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27448" y="1792224"/>
            <a:ext cx="1938528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1828800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clara pero variables imprecisas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39128" y="1792224"/>
            <a:ext cx="1993392" cy="54864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93992" y="1828800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vaga o poco contextualizada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395728"/>
            <a:ext cx="850392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395728"/>
            <a:ext cx="73152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43230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matemática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15768" y="2395728"/>
            <a:ext cx="1938528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70632" y="2432304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correcta con todos sus parámetros e interpretación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27448" y="2395728"/>
            <a:ext cx="1938528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2432304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correcta pero sin interpretar parámetros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39128" y="2395728"/>
            <a:ext cx="1993392" cy="54864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93992" y="2432304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incorrecta o incompleta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2999232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2999232"/>
            <a:ext cx="73152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03580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Representaciones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15768" y="2999232"/>
            <a:ext cx="1938528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70632" y="3035808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Tabla, gráfica y análisis completo (dom, rango, extremos)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27448" y="2999232"/>
            <a:ext cx="1938528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82312" y="3035808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y gráfica correctas, análisis parcial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39128" y="2999232"/>
            <a:ext cx="1993392" cy="54864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93992" y="3035808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uno de los elementos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3602736"/>
            <a:ext cx="8503920" cy="548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3602736"/>
            <a:ext cx="73152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63931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aplicadas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15768" y="3602736"/>
            <a:ext cx="1938528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70632" y="3639312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preguntas con solución correcta e interpretada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27448" y="3602736"/>
            <a:ext cx="1938528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82312" y="3639312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preguntas resueltas sin contextualizar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739128" y="3602736"/>
            <a:ext cx="1993392" cy="54864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93992" y="3639312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3 preguntas o errores graves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4206240"/>
            <a:ext cx="8503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20040" y="4206240"/>
            <a:ext cx="73152" cy="5486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24281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oral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715768" y="4206240"/>
            <a:ext cx="1938528" cy="5486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70632" y="4242816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Clara, segura, responde preguntas del grupo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27448" y="4206240"/>
            <a:ext cx="1938528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82312" y="4242816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Clara pero dificultad con preguntas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739128" y="4206240"/>
            <a:ext cx="1993392" cy="548640"/>
          </a:xfrm>
          <a:prstGeom prst="rect">
            <a:avLst/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93992" y="4242816"/>
            <a:ext cx="1901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seguir o incompleta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Puntuación total: /25 puntos · Equivalencia: 23-25 = Sobresaliente · 17-22 = Alto · 10-16 = Básico · &lt;10 = Bajo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rúbrica es tu guía — léela ANTES de empezar el proyecto, no después.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Ejercicios integradores — Sesión 8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92024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1042416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042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ECOLOGÍA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El río Medellín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453896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del agua sigue C(t)=−0.5t²+6t+20 (ICA, 0-100), donde t son años desde 2020. ¿Cuándo fue mejor la calidad? ¿En qué año bajará de 20? Modela e interpreta.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60520" cy="192024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416052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60920" y="1042416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1042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0" y="10149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  El bus de Bello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453896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bus recorre 180 km. A velocidad v km/h, el tiempo es T(v)=180/v. ¿A qué velocidad tarde 2 horas? Analiza: dominio, asíntotas, comportamiento cuando v→∞.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990088"/>
            <a:ext cx="4160520" cy="1920240"/>
          </a:xfrm>
          <a:prstGeom prst="rect">
            <a:avLst/>
          </a:prstGeom>
          <a:solidFill>
            <a:srgbClr val="F5F3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90088"/>
            <a:ext cx="41605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3072384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3072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30449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Medicamento en sangre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" y="3483864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concentración de un medicamento es M(t)=4t·e^(−0.5t). Aproxima con M(t)=4t/(1+0.5t²). Encuentra la concentración máxima y el tiempo en que ocurre.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2990088"/>
            <a:ext cx="4160520" cy="1920240"/>
          </a:xfrm>
          <a:prstGeom prst="rect">
            <a:avLst/>
          </a:prstGeom>
          <a:solidFill>
            <a:srgbClr val="FFF7ED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90088"/>
            <a:ext cx="4160520" cy="43891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920" y="3072384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3072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46320" y="30449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Elige tu modelo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64608" y="3483864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Escoge una situación de tu vida real. Reúne datos, elige el tipo de función, escribe la fórmula, analiza y responde 3 preguntas. Este es el borrador de tu proyecto final.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último ejercicio es el punto de partida de tu proyecto. ¡Tómalo en serio, ya tienes todas las herramientas!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FFEDD5">
              <a:alpha val="12000"/>
            </a:srgbClr>
          </a:solidFill>
          <a:ln w="12700">
            <a:solidFill>
              <a:srgbClr val="FFEDD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743200" cy="2743200"/>
          </a:xfrm>
          <a:prstGeom prst="ellipse">
            <a:avLst/>
          </a:prstGeom>
          <a:solidFill>
            <a:srgbClr val="EDE9FE">
              <a:alpha val="12000"/>
            </a:srgbClr>
          </a:solidFill>
          <a:ln w="12700">
            <a:solidFill>
              <a:srgbClr val="EDE9F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3657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🎓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8 SESIONES COMPLETADAS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810512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sabes que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funciones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el lenguaje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realidad.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274320" y="3602736"/>
            <a:ext cx="987552" cy="4937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62102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382219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53312" y="3602736"/>
            <a:ext cx="987552" cy="4937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362102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53312" y="382219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Representaciones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32304" y="3602736"/>
            <a:ext cx="987552" cy="493776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32304" y="362102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32304" y="382219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511296" y="3602736"/>
            <a:ext cx="987552" cy="4937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11296" y="362102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11296" y="382219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Cuadrática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90288" y="3602736"/>
            <a:ext cx="987552" cy="4937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362102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90288" y="382219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Otras fns.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669280" y="3602736"/>
            <a:ext cx="987552" cy="493776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362102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669280" y="382219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748272" y="3602736"/>
            <a:ext cx="987552" cy="4937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362102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48272" y="382219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827264" y="3602736"/>
            <a:ext cx="987552" cy="4937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27264" y="362102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827264" y="3822192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Modelación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4187952"/>
            <a:ext cx="8229600" cy="36576"/>
          </a:xfrm>
          <a:prstGeom prst="rect">
            <a:avLst/>
          </a:prstGeom>
          <a:solidFill>
            <a:srgbClr val="B45309">
              <a:alpha val="40000"/>
            </a:srgbClr>
          </a:solidFill>
          <a:ln w="12700">
            <a:solidFill>
              <a:srgbClr val="B45309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3159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"Las matemáticas son el idioma con el que Dios escribió el universo." — Galileo Galilei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B45309">
              <a:alpha val="80000"/>
            </a:srgbClr>
          </a:solidFill>
          <a:ln w="12700">
            <a:solidFill>
              <a:srgbClr val="B45309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Público · Bello, Antioquia · Matemáticas Grado 10° · Secuencia Didáctica Completa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8 - Modelación Matemática con Funciones</dc:title>
  <dc:subject>PptxGenJS Presentation</dc:subject>
  <dc:creator>PptxGenJS</dc:creator>
  <cp:lastModifiedBy>PptxGenJS</cp:lastModifiedBy>
  <cp:revision>1</cp:revision>
  <dcterms:created xsi:type="dcterms:W3CDTF">2026-02-20T23:45:48Z</dcterms:created>
  <dcterms:modified xsi:type="dcterms:W3CDTF">2026-02-20T23:45:48Z</dcterms:modified>
</cp:coreProperties>
</file>