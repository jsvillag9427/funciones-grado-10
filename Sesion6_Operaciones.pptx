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365760"/>
            <a:ext cx="3840480" cy="3840480"/>
          </a:xfrm>
          <a:prstGeom prst="ellipse">
            <a:avLst/>
          </a:prstGeom>
          <a:solidFill>
            <a:srgbClr val="E0E7FF">
              <a:alpha val="70000"/>
            </a:srgbClr>
          </a:solidFill>
          <a:ln w="12700">
            <a:solidFill>
              <a:srgbClr val="E0E7F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CCFBF1">
              <a:alpha val="70000"/>
            </a:srgbClr>
          </a:solidFill>
          <a:ln w="12700">
            <a:solidFill>
              <a:srgbClr val="CCFBF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566160"/>
            <a:ext cx="2011680" cy="201168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82296" cy="2834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DE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5943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COMPOSICIÓN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FUNCIONES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(f+g)(x) · (f·g)(x) · f(g(x)) · f⁻¹(x)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4041648"/>
            <a:ext cx="1463040" cy="3840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Suma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50008" y="4041648"/>
            <a:ext cx="1463040" cy="3840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0008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Resta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22776" y="4041648"/>
            <a:ext cx="1463040" cy="3840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22776" y="40416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✖️ Producto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498848"/>
            <a:ext cx="1463040" cy="3840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98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➗ Cociente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50008" y="4498848"/>
            <a:ext cx="1463040" cy="3840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0008" y="4498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Composición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22776" y="4498848"/>
            <a:ext cx="1463040" cy="384048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44988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Inversa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➕➖✖️➗  Operaciones básicas entre funciones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566928"/>
          </a:xfrm>
          <a:prstGeom prst="rect">
            <a:avLst/>
          </a:prstGeom>
          <a:solidFill>
            <a:srgbClr val="E0E7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9264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 f(x) = 2x + 3   y   g(x) = x² − 1   →   podemos combinarlas como números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91056"/>
            <a:ext cx="4160520" cy="1572768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91056"/>
            <a:ext cx="41605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SUMA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0665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(f+g)(x) = f(x)+g(x)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14016" y="2048256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(2x+3) + (x²−1)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x² + 2x + 2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Dom: todos los reales 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633472"/>
            <a:ext cx="1508760" cy="292608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265176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Ganancias de dos productos juntos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591056"/>
            <a:ext cx="4160520" cy="1572768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91056"/>
            <a:ext cx="4160520" cy="40233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45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RESTA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048256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20665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(f−g)(x) = f(x)−g(x)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94576" y="2048256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(2x+3) − (x²−1)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−x² + 2x + 4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Dom: todos los reales 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2633472"/>
            <a:ext cx="1508760" cy="292608"/>
          </a:xfrm>
          <a:prstGeom prst="rect">
            <a:avLst/>
          </a:prstGeom>
          <a:solidFill>
            <a:srgbClr val="E11D48">
              <a:alpha val="8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265176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dos costos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255264"/>
            <a:ext cx="4160520" cy="1572768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255264"/>
            <a:ext cx="416052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✖️ PRODUCTO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712464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7307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(f·g)(x) = f(x)·g(x)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14016" y="3712464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(2x+3)(x²−1)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2x³+3x²−2x−3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Dom: todos los reales ℝ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34640" y="4297680"/>
            <a:ext cx="1508760" cy="292608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431596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= precio × cantidad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255264"/>
            <a:ext cx="4160520" cy="1572768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255264"/>
            <a:ext cx="416052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➗ COCIENTE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712464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37307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(f/g)(x) = f(x)/g(x)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94576" y="3712464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(2x+3)/(x²−1)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g(x)≠0 → x≠±1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Dom: x≠1 y x≠−1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15200" y="4297680"/>
            <a:ext cx="1508760" cy="292608"/>
          </a:xfrm>
          <a:prstGeom prst="rect">
            <a:avLst/>
          </a:prstGeom>
          <a:solidFill>
            <a:srgbClr val="EA580C">
              <a:alpha val="8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3488" y="4315968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promedio por unidad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 (f/g)(x) excluye los x que hacen g(x)=0 — ¡no se puede dividir entre cero!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Composición de funciones  f(g(x))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6766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(f∘g)(x) = f(g(x)) significa: primero aplicas g, y el resultado lo metes en f.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una cadena de máquinas: la salida de una es la entrada de la siguiente.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810512"/>
            <a:ext cx="8503920" cy="1298448"/>
          </a:xfrm>
          <a:prstGeom prst="rect">
            <a:avLst/>
          </a:prstGeom>
          <a:solidFill>
            <a:srgbClr val="F8F9FE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56816"/>
            <a:ext cx="1097280" cy="822960"/>
          </a:xfrm>
          <a:prstGeom prst="rect">
            <a:avLst/>
          </a:prstGeom>
          <a:solidFill>
            <a:srgbClr val="E0E7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5681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(entrada)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27632" y="2322576"/>
            <a:ext cx="548640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12848" y="1920240"/>
            <a:ext cx="1828800" cy="914400"/>
          </a:xfrm>
          <a:prstGeom prst="rect">
            <a:avLst/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195681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x + 2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31136" y="234086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g(3) = 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9080" y="2322576"/>
            <a:ext cx="548640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2011680" cy="914400"/>
          </a:xfrm>
          <a:prstGeom prst="rect">
            <a:avLst/>
          </a:prstGeom>
          <a:solidFill>
            <a:srgbClr val="DBEAFE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956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3x − 1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2340864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f(5) = 14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2322576"/>
            <a:ext cx="548640" cy="7315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96912" y="1956816"/>
            <a:ext cx="1325880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956816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f(g(3))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8412480" cy="1664208"/>
          </a:xfrm>
          <a:prstGeom prst="rect">
            <a:avLst/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200400"/>
            <a:ext cx="8412480" cy="38404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2278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hagámoslo algebraicamente — encontrar la fórmula de f(g(x))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059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f(x)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334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3x − 1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42032" y="36576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50592" y="4059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x por g(x)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50592" y="4334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= 3·[g(x)] − 1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26864" y="3657600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35424" y="4059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g(x)=x+2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35424" y="4334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= 3·(x+2) − 1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11696" y="3657600"/>
            <a:ext cx="347472" cy="34747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0256" y="4059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20256" y="433425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= 3x + 6 − 1 = 3x + 5  ✅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¡OJO! f(g(x)) ≠ g(f(x)). La composición NO es conmutativa. El orden importa.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f(g(x))  ≠  g(f(x))  — El orden sí importa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457200"/>
          </a:xfrm>
          <a:prstGeom prst="rect">
            <a:avLst/>
          </a:prstGeom>
          <a:solidFill>
            <a:srgbClr val="FFE4E6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Usando: f(x) = 3x − 1    y    g(x) = x + 2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17904"/>
            <a:ext cx="416052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17904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45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 =  Primero g, luego 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029968"/>
            <a:ext cx="40233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66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g(x)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066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x + 2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54203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78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 en 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= 3·(x+2)−1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054096"/>
            <a:ext cx="40233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90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3x + 6 − 1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5661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02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= 3x + 5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4078224"/>
            <a:ext cx="40233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f(g(3))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g(3)=5 → f(5)=14 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4608576"/>
            <a:ext cx="4023360" cy="14630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60857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f∘g(x) = 3x + 5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517904"/>
            <a:ext cx="4160520" cy="3291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517904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545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g(f(x))  =  Primero f, luego 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27448" y="2029968"/>
            <a:ext cx="40233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0665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f(x)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066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3x − 1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27448" y="2542032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578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 en 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g(f(x)) = (3x−1) + 2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27448" y="3054096"/>
            <a:ext cx="40233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090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090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3x − 1 + 2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27448" y="356616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602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602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g(f(x)) = 3x + 1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27448" y="4078224"/>
            <a:ext cx="4023360" cy="4572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114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g(f(3))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f(3)=8 → g(8)=10 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27448" y="4608576"/>
            <a:ext cx="4023360" cy="146304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7448" y="460857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g∘f(x) = 3x + 1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solidFill>
            <a:srgbClr val="FFE4E6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79145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3x+5  ≠  3x+1  →  Confirmado: f(g(x)) ≠ g(f(x))  ¡el orden cambia el resultado!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primero ducharte y luego vestirte ≠ primero vestirte y luego ducharte. ¡El orden importa!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Composición en la vida real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aparece siempre que una función 'alimenta' a otra. Son cadenas de procesos.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1430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8503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081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Descuento en videojuegos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7922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original: p(x) = x  (precio en miles)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20%: d(p) = 0.8·p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19%: t(d) = 1.19·d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05072" y="1773936"/>
            <a:ext cx="22860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179222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final: t(d(p(x))) = 1.19·(0.8·x) = 0.952x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82512" y="1773936"/>
            <a:ext cx="2377440" cy="676656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792224"/>
            <a:ext cx="2322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pagas por un juego de $80.000?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t(d(p(80))) = 0.952·80 = $76.160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8503920" cy="11430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06040"/>
            <a:ext cx="8503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642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Conversión de temperatura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02666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a Kelvin: k(c) = c + 273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°F a °C: c(f) = (f−32)·5/9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05072" y="3008376"/>
            <a:ext cx="22860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9936" y="302666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°F a Kelvin directamente: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k(c(f)) = (f−32)·5/9 + 273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82512" y="3008376"/>
            <a:ext cx="2377440" cy="676656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3026664"/>
            <a:ext cx="2322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Kelvin son 98.6°F (temperatura corporal)?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k(c(98.6)) = 66.6·5/9 + 273 = 37 + 273 = 310 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8503920" cy="114300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40480"/>
            <a:ext cx="850392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877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Producción y costo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" y="42611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en t horas: u(t) = 50t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u unidades: c(u) = 800u + 5.000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05072" y="4242816"/>
            <a:ext cx="22860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9936" y="426110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según tiempo: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c(u(t)) = 800·(50t) + 5.000 = 40.000t + 5.000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82512" y="4242816"/>
            <a:ext cx="2377440" cy="676656"/>
          </a:xfrm>
          <a:prstGeom prst="rect">
            <a:avLst/>
          </a:prstGeom>
          <a:solidFill>
            <a:srgbClr val="EA580C">
              <a:alpha val="9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261104"/>
            <a:ext cx="232257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operar 8 horas?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c(u(8)) = 40.000(8)+5.000 = $325.000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identifica qué función va 'adentro' (se aplica primero) y cuál va 'afuera' (se aplica después).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Función Inversa   f⁻¹(x)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64008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inversa f⁻¹(x) 'deshace' lo que hace f(x). Si f convierte x en y, entonces f⁻¹ convierte y en x.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f(f⁻¹(x)) = x     y     f⁻¹(f(x)) = x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700784"/>
            <a:ext cx="8503920" cy="1005840"/>
          </a:xfrm>
          <a:prstGeom prst="rect">
            <a:avLst/>
          </a:prstGeom>
          <a:solidFill>
            <a:srgbClr val="F8F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10512"/>
            <a:ext cx="868680" cy="640080"/>
          </a:xfrm>
          <a:prstGeom prst="rect">
            <a:avLst/>
          </a:prstGeom>
          <a:solidFill>
            <a:srgbClr val="E0E7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051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901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20240" y="1810512"/>
            <a:ext cx="1645920" cy="64008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8105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2x+1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901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14800" y="1810512"/>
            <a:ext cx="86868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81051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901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32120" y="1810512"/>
            <a:ext cx="1828800" cy="64008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105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f⁻¹(x) = (x−1)/2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1901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09560" y="1810512"/>
            <a:ext cx="86868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810512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48716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4871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f⁻¹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798064"/>
            <a:ext cx="5120640" cy="2048256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98064"/>
            <a:ext cx="51206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8254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encontrar f⁻¹(x)? — Ejemplo: f(x) = 2x + 1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84048" y="3273552"/>
            <a:ext cx="4992624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3337560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y = f(x)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32304" y="331012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2x + 1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048" y="3675888"/>
            <a:ext cx="499262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73989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739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" y="3712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 x e 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32304" y="371246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2y + 1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84048" y="4078224"/>
            <a:ext cx="4992624" cy="3474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" y="4142232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Despeja 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432304" y="41148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− 1 = 2y   →   y = (x−1)/2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84048" y="4480560"/>
            <a:ext cx="499262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8912" y="4544568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544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" y="4517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 f⁻¹(x)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32304" y="451713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f⁻¹(x) = (x − 1) / 2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23560" y="2798064"/>
            <a:ext cx="3154680" cy="2048256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623560" y="2798064"/>
            <a:ext cx="315468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8254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y f⁻¹(x) son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simétricas en y=x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720840" y="3310128"/>
            <a:ext cx="27432" cy="1216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42432" y="4526280"/>
            <a:ext cx="2907792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20840" y="4526280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30568" y="4416552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0296" y="4306824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0024" y="4197096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59752" y="4087368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69480" y="3977640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9208" y="3867912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88936" y="3758184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98664" y="3648456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08392" y="3538728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18120" y="3429000"/>
            <a:ext cx="128016" cy="274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89520" y="35570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y=x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 rot="-3806097">
            <a:off x="6446520" y="4800600"/>
            <a:ext cx="61339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3806097">
            <a:off x="6720840" y="4251960"/>
            <a:ext cx="61339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1593903">
            <a:off x="6995160" y="4526280"/>
            <a:ext cx="61339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1593903">
            <a:off x="7543800" y="4251960"/>
            <a:ext cx="61339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42632" y="3374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01000" y="3977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f⁻¹(x)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f⁻¹ se lee 'f inversa' — NO es 1/f(x). El superíndice −1 indica inversión, no potencia.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Dominio de la composición — ¡cuidado aquí!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 f(g(x)) no siempre es ℝ. Hay que considerar las restricciones de AMBAS funciones.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850392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99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 f(x) = √x    y    g(x) = x − 3    →   encontrar f(g(x)) y su dominio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847088"/>
            <a:ext cx="8375904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91109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11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83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f(g(x))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883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= f(x−3) = √(x−3)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267712"/>
            <a:ext cx="83759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3317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304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 f: necesita argumento ≥ 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2304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− 3 ≥ 0   →   x ≥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2688336"/>
            <a:ext cx="8375904" cy="3657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75234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 g: ninguna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63440" y="27249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x−3 existe para todo 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3108960"/>
            <a:ext cx="83759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172968"/>
            <a:ext cx="256032" cy="25603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145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f(g(x))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63440" y="31455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≥ 3  →  Dom: [3, +∞)   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85039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657600"/>
            <a:ext cx="8503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685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2:  f(x) = 1/x    y    g(x) = x²− 4    →  encontrar f(g(x)) y su dominio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0965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f(g(x)) = 1/(x²−4)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74720" y="409651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Restricción: g(x) ≠ 0  →  x²−4 ≠ 0  →  x ≠ ±2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462272"/>
            <a:ext cx="8275320" cy="3291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622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Dom: ℝ − {−2, 2}  →  Todos los reales excepto x=−2 y x=2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calcula f(g(x)) → identifica restricciones de g(x) Y las que impone f(g(x)). Combínalas.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— Sesión 6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Las dos tiendas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A tiene ingresos f(x)=1500x y costos g(x)=200x+8000. Encuentra (f−g)(x), interprétala y calcula la ganancia si vende 30 unidades.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El descuento en cadena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da 15% de descuento: d(x)=0.85x. Luego cobra $3.000 de envío: e(x)=x+3000. Calcula e(d(x)) y d(e(x)). ¿Cuál conviene más al cliente? Justifica.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INVERSA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Deshacer la función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f(x)=4x−7, encuentra f⁻¹(x) siguiendo los pasos. Verifica que f(f⁻¹(x))=x y que f⁻¹(f(x))=x. ¿Qué significa la inversa en contexto?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El dominio de la composición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f(x)=√x y g(x)=2x−6.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Halla f(g(x))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Encuentra el dominio de f(g(x))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¿Es el mismo que el de g(x) sola? Explica por qué.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grupos de 3 · Muestra cada paso · Verifica tus resultados evaluando en un valor concreto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 que aprendimos hoy — Sesión 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94944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914400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Operaciones: (f±g)(x), (f·g)(x), (f/g)(x). Dominio excluye ceros del denominador.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8412480" cy="694944"/>
          </a:xfrm>
          <a:prstGeom prst="rect">
            <a:avLst/>
          </a:prstGeom>
          <a:solidFill>
            <a:srgbClr val="EEF2FF"/>
          </a:solidFill>
          <a:ln w="1905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700784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f(g(x)): primero g, luego f. NO es conmutativa: f(g)≠g(f).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694944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487168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composición el dominio combina restricciones de g(x) y de f(g(x)).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694944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↩️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273552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f⁻¹(x): intercambia x e y y despeja. Gráficas simétricas en y=x.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694944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059936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descuentos en cadena, conversiones, producción y costo.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solidFill>
            <a:srgbClr val="E0E7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Análisis y comportamiento → crecimiento, máximos, mínimos y asíntotas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6 - Operaciones con Funciones y Composición</dc:title>
  <dc:subject>PptxGenJS Presentation</dc:subject>
  <dc:creator>PptxGenJS</dc:creator>
  <cp:lastModifiedBy>PptxGenJS</cp:lastModifiedBy>
  <cp:revision>1</cp:revision>
  <dcterms:created xsi:type="dcterms:W3CDTF">2026-02-18T22:51:59Z</dcterms:created>
  <dcterms:modified xsi:type="dcterms:W3CDTF">2026-02-18T22:51:59Z</dcterms:modified>
</cp:coreProperties>
</file>