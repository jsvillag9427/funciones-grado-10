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-365760"/>
            <a:ext cx="4023360" cy="4023360"/>
          </a:xfrm>
          <a:prstGeom prst="ellipse">
            <a:avLst/>
          </a:prstGeom>
          <a:solidFill>
            <a:srgbClr val="D1FAE5">
              <a:alpha val="70000"/>
            </a:srgbClr>
          </a:solidFill>
          <a:ln w="12700">
            <a:solidFill>
              <a:srgbClr val="D1FAE5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560320" cy="2560320"/>
          </a:xfrm>
          <a:prstGeom prst="ellipse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DBEAFE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82296" cy="2743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DE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5943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FUNCIONES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· Máximos · Continuidad · Asíntotas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005072"/>
            <a:ext cx="1874520" cy="3657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05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Crecimiento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4005072"/>
            <a:ext cx="1874520" cy="3657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4005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Decrecimiento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4005072"/>
            <a:ext cx="1874520" cy="3657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4005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Máximos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443984"/>
            <a:ext cx="1874520" cy="3657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439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Mínimos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88920" y="4443984"/>
            <a:ext cx="1874520" cy="3657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44439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〰️ Continuidad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4443984"/>
            <a:ext cx="1874520" cy="3657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4439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 Asíntotas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 · Matemáticas Grado 10°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📈📉  Funciones crecientes y decrecientes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9669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CRECE si al aumentar x, f(x) también aumenta. DECRECE si al aumentar x, f(x) disminuye.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" y="1600200"/>
            <a:ext cx="2798064" cy="196596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600200"/>
            <a:ext cx="2798064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CRECIENTE en (a,b)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" y="2075688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x₁ &lt; x₂ en (a,b):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f(x₁) &lt; f(x₂)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gráfica sube de izquierda a derecha 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1600200"/>
            <a:ext cx="2798064" cy="196596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600200"/>
            <a:ext cx="2798064" cy="4206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276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DECRECIENTE en (a,b)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74136" y="2075688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x₁ &lt; x₂ en (a,b):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f(x₁) &gt; f(x₂)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gráfica baja de izquierda a derecha 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6208" y="1600200"/>
            <a:ext cx="2798064" cy="196596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1600200"/>
            <a:ext cx="2798064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276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〰️ CONSTANTE en (a,b)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45936" y="2075688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x₁ &lt; x₂ en (a,b):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f(x₁) = f(x₂)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gráfica es horizontal 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8503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57600"/>
            <a:ext cx="85039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685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f(x) = x³ − 3x  →  identificando intervalos de crecimiento y decrecimiento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0" y="3794760"/>
            <a:ext cx="27432" cy="8686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180" y="4663440"/>
            <a:ext cx="32004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4816597">
            <a:off x="1675181" y="4749830"/>
            <a:ext cx="262044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4715145">
            <a:off x="1719438" y="4491550"/>
            <a:ext cx="22363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4580800">
            <a:off x="1763695" y="4272342"/>
            <a:ext cx="18749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4396201">
            <a:off x="1807952" y="4090147"/>
            <a:ext cx="153744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4130365">
            <a:off x="1852209" y="3942911"/>
            <a:ext cx="122601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564317">
            <a:off x="2206264" y="3776749"/>
            <a:ext cx="86955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3817375">
            <a:off x="2250521" y="3851599"/>
            <a:ext cx="99616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3987511">
            <a:off x="2294778" y="3940844"/>
            <a:ext cx="110805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4104887">
            <a:off x="2339035" y="4042426"/>
            <a:ext cx="120301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4186174">
            <a:off x="2383292" y="4154291"/>
            <a:ext cx="127986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4240990">
            <a:off x="2427549" y="4274381"/>
            <a:ext cx="133791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4274960">
            <a:off x="2471806" y="4400640"/>
            <a:ext cx="137679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4291235">
            <a:off x="2516063" y="4531012"/>
            <a:ext cx="139628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4291235">
            <a:off x="2560320" y="4663440"/>
            <a:ext cx="139628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4816597">
            <a:off x="3401202" y="4835330"/>
            <a:ext cx="262044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4895500">
            <a:off x="3445459" y="4577050"/>
            <a:ext cx="30266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4958346">
            <a:off x="3489716" y="4277644"/>
            <a:ext cx="345437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35124" y="3968359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Decrece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75104" y="3575304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09928" y="32735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80944" y="5586984"/>
            <a:ext cx="164592" cy="164592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56144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4096512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x³ − 3x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Crece en (−∞, −1)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Decrece en (−1, 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Crece en (1, +∞)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encontrar dónde crece/decrece: busca los puntos donde la función 'cambia de dirección' (máximos y mínimos locales).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 Máximos y mínimos — locales y globales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máximo es el 'tope de una colina', un mínimo es el 'fondo de un valle'. Pueden ser locales o globales.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92608" y="1371600"/>
            <a:ext cx="4206240" cy="1298448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371600"/>
            <a:ext cx="420624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MÁXIMO LOCAL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82880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f(c) es un máximo local si f(c) ≥ f(x) para todos los x cerca de c.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punto más alto de su 'vecindad'.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73168" y="1371600"/>
            <a:ext cx="4206240" cy="1298448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371600"/>
            <a:ext cx="420624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MÍNIMO LOCAL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2896" y="182880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f(c) es un mínimo local si f(c) ≤ f(x) para todos los x cerca de c.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punto más bajo de su 'vecindad'.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" y="2788920"/>
            <a:ext cx="4206240" cy="1298448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" y="2788920"/>
            <a:ext cx="4206240" cy="40233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34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🌋 MÁXIMO GLOBAL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" y="324612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f(c) es el mayor valor de f(x) en TODO el dominio.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puede tener a lo sumo 1 máximo global.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3168" y="2788920"/>
            <a:ext cx="4206240" cy="1298448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2788920"/>
            <a:ext cx="420624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834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🏜️ MÍNIMO GLOBAL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2896" y="324612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f(c) es el menor valor de f(x) en TODO el dominio.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f(x)=x² tiene mínimo global en x=0, f(0)=0.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251960"/>
            <a:ext cx="8503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279392"/>
            <a:ext cx="8229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Clave: En una parábola f(x)=ax²+bx+c el vértice ES el máximo o mínimo GLOBAL. En funciones cúbicas, los puntos especiales son solo LOCALES.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donde la función 'cambia de creciente a decreciente' hay un máximo local. Al revés → mínimo local.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Leer e interpretar una gráfica completa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gráfica nos cuenta toda la historia de una función. Aprende a leerla como un texto.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937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9377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análisis completo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1645920"/>
            <a:ext cx="27432" cy="30175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4663440"/>
            <a:ext cx="27432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7091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47091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25296" y="47091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76272" y="47091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47091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27248" y="47091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rot="4963685">
            <a:off x="497434" y="2085915"/>
            <a:ext cx="420725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4919920">
            <a:off x="550688" y="2503255"/>
            <a:ext cx="38258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4868935">
            <a:off x="603943" y="2882118"/>
            <a:ext cx="346109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4809000">
            <a:off x="657198" y="3224105"/>
            <a:ext cx="31130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4737820">
            <a:off x="710452" y="3530820"/>
            <a:ext cx="27819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4652308">
            <a:off x="763707" y="3803867"/>
            <a:ext cx="24679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4548230">
            <a:off x="816962" y="4044849"/>
            <a:ext cx="217151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4419677">
            <a:off x="870216" y="4255369"/>
            <a:ext cx="18930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4258237">
            <a:off x="923471" y="4437029"/>
            <a:ext cx="163331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4051748">
            <a:off x="976726" y="4591435"/>
            <a:ext cx="1393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3782473">
            <a:off x="1029980" y="4720188"/>
            <a:ext cx="117469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2870819">
            <a:off x="1669036" y="4847942"/>
            <a:ext cx="7935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2961314">
            <a:off x="1722291" y="4789113"/>
            <a:ext cx="8175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3004579">
            <a:off x="1775545" y="4727078"/>
            <a:ext cx="82981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3004579">
            <a:off x="1828800" y="4663440"/>
            <a:ext cx="82981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2961314">
            <a:off x="1882055" y="4599802"/>
            <a:ext cx="8175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2870819">
            <a:off x="1935309" y="4537767"/>
            <a:ext cx="7935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2724488">
            <a:off x="1988564" y="4478938"/>
            <a:ext cx="758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2507662">
            <a:off x="2041819" y="4424919"/>
            <a:ext cx="71431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2197623">
            <a:off x="2095073" y="4377313"/>
            <a:ext cx="6635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1762157">
            <a:off x="2148328" y="4337724"/>
            <a:ext cx="61109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1163602">
            <a:off x="2201583" y="4307754"/>
            <a:ext cx="5645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380648">
            <a:off x="2254837" y="4289007"/>
            <a:ext cx="5358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544644">
            <a:off x="2308092" y="4283086"/>
            <a:ext cx="5393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484488">
            <a:off x="2361347" y="4291595"/>
            <a:ext cx="5863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302726">
            <a:off x="2414601" y="4316136"/>
            <a:ext cx="6793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944264">
            <a:off x="2467856" y="4358313"/>
            <a:ext cx="8129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3424846">
            <a:off x="2521111" y="4419729"/>
            <a:ext cx="9799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3782473">
            <a:off x="2574365" y="4501988"/>
            <a:ext cx="117469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4051748">
            <a:off x="2627620" y="4606692"/>
            <a:ext cx="13933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4258237">
            <a:off x="2680874" y="4735445"/>
            <a:ext cx="163331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21992" y="4200754"/>
            <a:ext cx="164592" cy="164592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9152" y="391729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746504" y="4581144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01952" y="47000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40680" y="1389888"/>
            <a:ext cx="3383280" cy="530352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440680" y="1389888"/>
            <a:ext cx="9144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141732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crece?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77840" y="166420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−1  y  x &gt;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(sube de izquierda a derecha)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40680" y="1984248"/>
            <a:ext cx="3383280" cy="530352"/>
          </a:xfrm>
          <a:prstGeom prst="rect">
            <a:avLst/>
          </a:prstGeom>
          <a:solidFill>
            <a:srgbClr val="FFF1F2"/>
          </a:solidFill>
          <a:ln w="1524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40680" y="1984248"/>
            <a:ext cx="91440" cy="5303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0" y="201168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decrece?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577840" y="225856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(−1 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(baja de izquierda a derecha)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40680" y="2578608"/>
            <a:ext cx="3383280" cy="530352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440680" y="2578608"/>
            <a:ext cx="91440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260604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local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577840" y="285292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x ≈ 1 → f(1) ≈ 0.8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440680" y="3172968"/>
            <a:ext cx="3383280" cy="530352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440680" y="3172968"/>
            <a:ext cx="91440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0" y="320040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local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577840" y="344728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x ≈ −1 → f(−1) ≈ −0.8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440680" y="3767328"/>
            <a:ext cx="3383280" cy="530352"/>
          </a:xfrm>
          <a:prstGeom prst="rect">
            <a:avLst/>
          </a:prstGeom>
          <a:solidFill>
            <a:srgbClr val="F0FDFA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440680" y="3767328"/>
            <a:ext cx="914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77840" y="379476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Ceros de la fn.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577840" y="40416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−√3, 0, √3  (3 ceros)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440680" y="4361688"/>
            <a:ext cx="3383280" cy="530352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440680" y="4361688"/>
            <a:ext cx="9144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7840" y="438912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 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577840" y="463600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 = 0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lectura: 1° dominio/rango  2° ceros  3° intercepto y  4° crecimiento/decrecimiento  5° máx/mín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〰️  Continuidad e discontinuidad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512064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966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es CONTINUA si puedes dibujar su gráfica sin levantar el lápiz. Si tienes que levantarlo en algún punto → hay una DISCONTINUIDAD.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2608" y="1572768"/>
            <a:ext cx="4206240" cy="1572768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572768"/>
            <a:ext cx="420624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184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" y="2029968"/>
            <a:ext cx="2468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gráfica no tiene saltos, agujeros ni interrupciones.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f(x)=x², f(x)=x+3, f(x)=sin(x)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38728" y="2029968"/>
            <a:ext cx="27432" cy="1005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2990088"/>
            <a:ext cx="10241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44115">
            <a:off x="3123590" y="2869241"/>
            <a:ext cx="6602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553116">
            <a:off x="3169676" y="2916525"/>
            <a:ext cx="625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340448">
            <a:off x="3215762" y="2958832"/>
            <a:ext cx="5930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104131">
            <a:off x="3261848" y="2996161"/>
            <a:ext cx="5630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842619">
            <a:off x="3307933" y="3028513"/>
            <a:ext cx="5360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555185">
            <a:off x="3354019" y="3055888"/>
            <a:ext cx="5124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242396">
            <a:off x="3400105" y="3078286"/>
            <a:ext cx="4926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906575">
            <a:off x="3446191" y="3095706"/>
            <a:ext cx="4773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52118">
            <a:off x="3492276" y="3108149"/>
            <a:ext cx="4668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85458">
            <a:off x="3538362" y="3115615"/>
            <a:ext cx="4615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85458">
            <a:off x="3584448" y="3118104"/>
            <a:ext cx="4615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552118">
            <a:off x="3630534" y="3115615"/>
            <a:ext cx="4668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906575">
            <a:off x="3676620" y="3108149"/>
            <a:ext cx="4773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1242396">
            <a:off x="3722705" y="3095706"/>
            <a:ext cx="4926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1555185">
            <a:off x="3768791" y="3078286"/>
            <a:ext cx="5124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1842619">
            <a:off x="3814877" y="3055888"/>
            <a:ext cx="5360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2104131">
            <a:off x="3860963" y="3028513"/>
            <a:ext cx="5630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2340448">
            <a:off x="3907048" y="2996161"/>
            <a:ext cx="5930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2553116">
            <a:off x="3953134" y="2958832"/>
            <a:ext cx="625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2744115">
            <a:off x="3999220" y="2916525"/>
            <a:ext cx="6602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572768"/>
            <a:ext cx="4206240" cy="1572768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1572768"/>
            <a:ext cx="4206240" cy="40233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6184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DISCONTINUIDAD DE SALTO ❌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82896" y="2029968"/>
            <a:ext cx="2468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'salta' de un valor a otro. Ejemplo: función por tramos con valores distintos en el borde.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19288" y="2029968"/>
            <a:ext cx="27432" cy="1005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36408" y="2990088"/>
            <a:ext cx="10241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04150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29754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55357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06563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32166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57770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83373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08976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34579" y="2887675"/>
            <a:ext cx="256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13802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65008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6214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67421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18627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9834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21040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72246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23453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74659" y="2759659"/>
            <a:ext cx="5120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01000" y="2823667"/>
            <a:ext cx="128016" cy="128016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01000" y="2695651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" y="3255264"/>
            <a:ext cx="4206240" cy="1572768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92608" y="3255264"/>
            <a:ext cx="420624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3300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DISCONTINUIDAD REMOVIBLE ⚠️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402336" y="3712464"/>
            <a:ext cx="2468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'agujero' en un punto, pero la función está definida en todas partes cercanas.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f(x)=(x²−1)/(x−1)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538728" y="3712464"/>
            <a:ext cx="27432" cy="1005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55848" y="4672584"/>
            <a:ext cx="10241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2700000">
            <a:off x="3354019" y="4826203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2700000">
            <a:off x="3400105" y="4780117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-2700000">
            <a:off x="3446191" y="4734032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2700000">
            <a:off x="3492276" y="4687946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2700000">
            <a:off x="3538362" y="4641860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-2700000">
            <a:off x="3584448" y="4595774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2700000">
            <a:off x="3630534" y="4549689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2700000">
            <a:off x="3676620" y="4503603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2700000">
            <a:off x="3722705" y="4457517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-2700000">
            <a:off x="3768791" y="4411431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2700000">
            <a:off x="3814877" y="4365346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2700000">
            <a:off x="3860963" y="4319260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2700000">
            <a:off x="3907048" y="4273174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2700000">
            <a:off x="3953134" y="4227088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2700000">
            <a:off x="3999220" y="4181003"/>
            <a:ext cx="6517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02152" y="4513478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73168" y="3255264"/>
            <a:ext cx="4206240" cy="1572768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773168" y="3255264"/>
            <a:ext cx="420624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64608" y="3300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DISCONTINUIDAD INFINITA ❌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4882896" y="3712464"/>
            <a:ext cx="2468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va a infinito en algún punto. Ejemplo: f(x)=1/x en x=0 (asíntota vertical).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019288" y="3712464"/>
            <a:ext cx="27432" cy="1005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36408" y="4672584"/>
            <a:ext cx="102412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4921452">
            <a:off x="8148304" y="3885600"/>
            <a:ext cx="19436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4620101">
            <a:off x="8175272" y="4078082"/>
            <a:ext cx="11990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4261761">
            <a:off x="8202241" y="4194912"/>
            <a:ext cx="8295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3864720">
            <a:off x="8229210" y="4273366"/>
            <a:ext cx="6244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3452227">
            <a:off x="8256179" y="4329684"/>
            <a:ext cx="5024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3047860">
            <a:off x="8283147" y="4372077"/>
            <a:ext cx="426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2670475">
            <a:off x="8310116" y="4405141"/>
            <a:ext cx="3781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2331452">
            <a:off x="8337085" y="4431650"/>
            <a:ext cx="3463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2034967">
            <a:off x="8364053" y="4453379"/>
            <a:ext cx="3249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1780048">
            <a:off x="8391022" y="4471512"/>
            <a:ext cx="3103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1562887">
            <a:off x="8417991" y="4486874"/>
            <a:ext cx="3001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1378575">
            <a:off x="8444959" y="4500056"/>
            <a:ext cx="2929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1222135">
            <a:off x="8471928" y="4511490"/>
            <a:ext cx="287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1089029">
            <a:off x="8498897" y="4521503"/>
            <a:ext cx="2838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1089029">
            <a:off x="7604150" y="4814824"/>
            <a:ext cx="2838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grado 10° el enfoque es intuitivo: ¿puedo dibujar sin levantar el lápiz? Si la respuesta es no → discontinuidad.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  Asíntotas — líneas que nunca se alcanzan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475488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96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asíntota es una línea recta a la que la curva se acerca indefinidamente pero NUNCA toca (o toca solo en el infinito).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2608" y="1536192"/>
            <a:ext cx="2798064" cy="182880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536192"/>
            <a:ext cx="2798064" cy="40233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6362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 VERTICAL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2336" y="1993392"/>
            <a:ext cx="25786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933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" y="239572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f(x)→∞ cuando x→a.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denominador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f(x)=1/x tiene A.V. en x=0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536192"/>
            <a:ext cx="2798064" cy="18288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536192"/>
            <a:ext cx="2798064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56362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 HORIZONTAL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74136" y="1993392"/>
            <a:ext cx="25786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19933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74136" y="239572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f(x)→b cuando x→±∞.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se 'aplana' al alejarse.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f(x)=1/x tiene A.H. en y=0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6208" y="1536192"/>
            <a:ext cx="2798064" cy="18288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536192"/>
            <a:ext cx="27980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56362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 OBLICUA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45936" y="1993392"/>
            <a:ext cx="25786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9933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mx+b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5936" y="239572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se acerca a una recta inclinada.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el grado del numerador 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mayor que el del denominador.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8503920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56432"/>
            <a:ext cx="8503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483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completo:  f(x) = (2x + 1) / (x − 3)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" y="3895344"/>
            <a:ext cx="2011680" cy="859536"/>
          </a:xfrm>
          <a:prstGeom prst="rect">
            <a:avLst/>
          </a:prstGeom>
          <a:solidFill>
            <a:srgbClr val="F8F9FE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913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Vertical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" y="418795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− 3 = 0  →  x =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(denominador = 0)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3895344"/>
            <a:ext cx="2011680" cy="859536"/>
          </a:xfrm>
          <a:prstGeom prst="rect">
            <a:avLst/>
          </a:prstGeom>
          <a:solidFill>
            <a:srgbClr val="F8F9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913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Horizontal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33472" y="418795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num = grado 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 = coef. líder = 2/1 = 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81728" y="3895344"/>
            <a:ext cx="2011680" cy="859536"/>
          </a:xfrm>
          <a:prstGeom prst="rect">
            <a:avLst/>
          </a:prstGeom>
          <a:solidFill>
            <a:srgbClr val="F8F9F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913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18795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2x+1=0  →  x = −1/2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03136" y="3895344"/>
            <a:ext cx="2011680" cy="859536"/>
          </a:xfrm>
          <a:prstGeom prst="rect">
            <a:avLst/>
          </a:prstGeom>
          <a:solidFill>
            <a:srgbClr val="F8F9FE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288" y="3913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 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76288" y="418795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 = 1/(−3) = −1/3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rápida para A.H.: si grados son iguales → y = cociente coeficientes líderes. Si num &gt; den → asíntota oblicua.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Análisis completo paso a paso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f(x) = (x² − 4) / (x − 1)  →  Análisis completo usando todas las herramientas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92608" y="1371600"/>
            <a:ext cx="2798064" cy="1298448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371600"/>
            <a:ext cx="2798064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4356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810512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− 1 ≠ 0  →  x ≠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Dom: ℝ − {1}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4408" y="1371600"/>
            <a:ext cx="2798064" cy="1298448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371600"/>
            <a:ext cx="27980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4356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85032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Ceros (f(x)=0)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74136" y="1810512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x²−4=0  →  x=±2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Ceros en x=2 y x=−2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1371600"/>
            <a:ext cx="2798064" cy="1298448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371600"/>
            <a:ext cx="2798064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14356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56832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 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45936" y="1810512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 = (0−4)/(0−1) =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(0, 4)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" y="2788920"/>
            <a:ext cx="2798064" cy="129844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" y="2788920"/>
            <a:ext cx="27980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85292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 Vertical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" y="3227832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(denominador = 0)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64408" y="2788920"/>
            <a:ext cx="2798064" cy="1298448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64408" y="2788920"/>
            <a:ext cx="279806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285292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85032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 Oblicua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74136" y="3227832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num(2) &gt; den(1)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 + 1 (oblicua)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36208" y="2788920"/>
            <a:ext cx="2798064" cy="1298448"/>
          </a:xfrm>
          <a:prstGeom prst="rect">
            <a:avLst/>
          </a:prstGeom>
          <a:solidFill>
            <a:srgbClr val="FFF1F2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2788920"/>
            <a:ext cx="2798064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285292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56832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45936" y="3227832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Decrece en (−∞,1)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Decrece en (1, +∞)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Dominio → Ceros → Intercepto y → Asíntotas → Crecimiento → Máximos/Mínimos → Gráfica.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Ejercicios — Sesión 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La temperatura del día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temperatura en Bello a lo largo del día sigue T(h)=−0.1h²+2h+18, donde h son las horas desde las 6 AM. ¿En qué intervalo sube la temperatura? ¿Cuándo alcanza su máximo? ¿A qué hora empieza a bajar?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GRÁFICA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Interpreta la gráfica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la gráfica de f(x)=x³−6x²+9x, responde: a) Intervalos de crecimiento b) Máximos y mínimos locales c) Ceros de la función d) Intercepto con eje y e) ¿Es continua?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  El plan de internet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modela sus costos como C(x)=(500x+1000)/(x−2), donde x son los GB usados (x&gt;2). Encuentra las asíntotas. ¿Qué representa la asíntota horizontal en contexto?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4160520" cy="192024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90088"/>
            <a:ext cx="4160520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COMPLETO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Análisis de f(x)=1/(x²−4)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el análisis completo: dominio, ceros, intercepto y, asíntotas verticales y horizontales, e intervalos donde la función es positiva o negativa.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en parejas · Grafica siempre · Usa GeoGebra o Desmos para verificar tus respuestas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Lo que aprendimos hoy — Sesión 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94944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914400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Creciente si f(x₁)&lt;f(x₂) cuando x₁&lt;x₂. Decreciente al contrario.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8412480" cy="694944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🏔️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1700784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Máximos y mínimos: locales (vecindad) vs globales (todo el dominio).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694944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487168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gráficas: dominio, rango, ceros, intercepto, crecimiento, extremos.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412480" cy="694944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〰️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3273552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Continuidad: sin saltos, agujeros ni interrupciones. Tipos de discontinuidad.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412480" cy="694944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↗️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4059936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Asíntotas: verticalés (denom=0), horizontales (x→∞), oblicuas (grado).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Modelación Matemática — el gran proyecto final con funciones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7 - Análisis y Comportamiento de Funciones</dc:title>
  <dc:subject>PptxGenJS Presentation</dc:subject>
  <dc:creator>PptxGenJS</dc:creator>
  <cp:lastModifiedBy>PptxGenJS</cp:lastModifiedBy>
  <cp:revision>1</cp:revision>
  <dcterms:created xsi:type="dcterms:W3CDTF">2026-02-20T23:45:48Z</dcterms:created>
  <dcterms:modified xsi:type="dcterms:W3CDTF">2026-02-20T23:45:48Z</dcterms:modified>
</cp:coreProperties>
</file>