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365760"/>
            <a:ext cx="4114800" cy="4114800"/>
          </a:xfrm>
          <a:prstGeom prst="ellipse">
            <a:avLst/>
          </a:prstGeom>
          <a:solidFill>
            <a:srgbClr val="EDE9FE">
              <a:alpha val="70000"/>
            </a:srgbClr>
          </a:solidFill>
          <a:ln w="12700">
            <a:solidFill>
              <a:srgbClr val="EDE9FE">
                <a:alpha val="7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2743200" cy="2743200"/>
          </a:xfrm>
          <a:prstGeom prst="ellipse">
            <a:avLst/>
          </a:prstGeom>
          <a:solidFill>
            <a:srgbClr val="FFEDD5">
              <a:alpha val="70000"/>
            </a:srgbClr>
          </a:solidFill>
          <a:ln w="12700">
            <a:solidFill>
              <a:srgbClr val="FFEDD5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474720"/>
            <a:ext cx="2011680" cy="2011680"/>
          </a:xfrm>
          <a:prstGeom prst="ellipse">
            <a:avLst/>
          </a:prstGeom>
          <a:solidFill>
            <a:srgbClr val="FEF3C7">
              <a:alpha val="80000"/>
            </a:srgbClr>
          </a:solidFill>
          <a:ln w="12700">
            <a:solidFill>
              <a:srgbClr val="FEF3C7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005840"/>
            <a:ext cx="82296" cy="2743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9601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4 DE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4173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CUADRÁTICA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FONDO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77240" y="3547872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ax² + bx + c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1261872" cy="402336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1148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🔼 Parábola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48840" y="4114800"/>
            <a:ext cx="1261872" cy="402336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41148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Vértice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4114800"/>
            <a:ext cx="1261872" cy="402336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20440" y="41148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Ceros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4114800"/>
            <a:ext cx="1261872" cy="402336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114800"/>
            <a:ext cx="1261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Aplicaciones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Público · Bello, Antioquia · Matemáticas Grado 10°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🔼  ¿Qué es la función cuadrática?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32688"/>
            <a:ext cx="8412480" cy="7315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9264"/>
            <a:ext cx="813816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cuadrática tiene la forma  f(x) = ax² + bx + c  donde a ≠ 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gráfica es siempre una PARÁBOLA — una curva simétrica en forma de U o 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755648"/>
            <a:ext cx="4114800" cy="3063240"/>
          </a:xfrm>
          <a:prstGeom prst="rect">
            <a:avLst/>
          </a:prstGeom>
          <a:solidFill>
            <a:srgbClr val="FFFFFF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755648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&gt; 0  →  Parábola abre hacia ARRIBA ⬆️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" y="2249424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MÍNIMO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(punto más bajo)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" y="2944368"/>
            <a:ext cx="1645920" cy="420624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9443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 − 4x + 3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313432" y="2240280"/>
            <a:ext cx="36576" cy="2240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94560" y="4480560"/>
            <a:ext cx="2103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4698638">
            <a:off x="1353312" y="2080260"/>
            <a:ext cx="31592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4648272">
            <a:off x="1417320" y="2389632"/>
            <a:ext cx="29506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4590256">
            <a:off x="1481328" y="2677668"/>
            <a:ext cx="27427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4522748">
            <a:off x="1545336" y="2944368"/>
            <a:ext cx="25357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4443276">
            <a:off x="1609344" y="3189732"/>
            <a:ext cx="23299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4348466">
            <a:off x="1673352" y="3413760"/>
            <a:ext cx="21255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4233598">
            <a:off x="1737360" y="3616452"/>
            <a:ext cx="192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4091915">
            <a:off x="1801368" y="3797808"/>
            <a:ext cx="17234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3913492">
            <a:off x="1865376" y="3957828"/>
            <a:ext cx="15274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3683372">
            <a:off x="1929384" y="4096512"/>
            <a:ext cx="13367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3378596">
            <a:off x="1993392" y="4213860"/>
            <a:ext cx="11539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963922">
            <a:off x="2057400" y="4309872"/>
            <a:ext cx="9835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388334">
            <a:off x="2121408" y="4384548"/>
            <a:ext cx="83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1593903">
            <a:off x="2185416" y="4437888"/>
            <a:ext cx="7156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567739">
            <a:off x="2249424" y="4469892"/>
            <a:ext cx="6489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-567739">
            <a:off x="2313432" y="4480560"/>
            <a:ext cx="6489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-1593903">
            <a:off x="2377440" y="4469892"/>
            <a:ext cx="7156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-2388334">
            <a:off x="2441448" y="4437888"/>
            <a:ext cx="83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-2963922">
            <a:off x="2505456" y="4384548"/>
            <a:ext cx="9835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-3378596">
            <a:off x="2569464" y="4309872"/>
            <a:ext cx="11539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-3683372">
            <a:off x="2633472" y="4213860"/>
            <a:ext cx="13367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-3913492">
            <a:off x="2697480" y="4096512"/>
            <a:ext cx="15274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-4091915">
            <a:off x="2761488" y="3957828"/>
            <a:ext cx="17234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4233598">
            <a:off x="2825496" y="3797808"/>
            <a:ext cx="19232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-4348466">
            <a:off x="2889504" y="3616452"/>
            <a:ext cx="21255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-4443276">
            <a:off x="2953512" y="3413760"/>
            <a:ext cx="23299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4522748">
            <a:off x="3017520" y="3189732"/>
            <a:ext cx="25357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-4590256">
            <a:off x="3081528" y="2944368"/>
            <a:ext cx="27427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-4648272">
            <a:off x="3145536" y="2677668"/>
            <a:ext cx="29506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4698638">
            <a:off x="3209544" y="2389632"/>
            <a:ext cx="31592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231136" y="4398264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04872" y="42793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94560" y="3438144"/>
            <a:ext cx="2103120" cy="1335024"/>
          </a:xfrm>
          <a:prstGeom prst="rect">
            <a:avLst/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09160" y="1755648"/>
            <a:ext cx="4114800" cy="3063240"/>
          </a:xfrm>
          <a:prstGeom prst="rect">
            <a:avLst/>
          </a:prstGeom>
          <a:solidFill>
            <a:srgbClr val="FFFFFF"/>
          </a:solidFill>
          <a:ln w="317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09160" y="1755648"/>
            <a:ext cx="411480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17830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&lt; 0  →  Parábola abre hacia ABAJO ⬇️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818888" y="2249424"/>
            <a:ext cx="164592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un MÁXIMO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(punto más alto)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4818888" y="2944368"/>
            <a:ext cx="1645920" cy="420624"/>
          </a:xfrm>
          <a:prstGeom prst="rect">
            <a:avLst/>
          </a:prstGeom>
          <a:solidFill>
            <a:srgbClr val="E11D48">
              <a:alpha val="85000"/>
            </a:srgbClr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18888" y="294436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−x² + 4x − 1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702552" y="2240280"/>
            <a:ext cx="36576" cy="22402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4480560"/>
            <a:ext cx="210312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3683372">
            <a:off x="6318504" y="4864608"/>
            <a:ext cx="13367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3378596">
            <a:off x="6382512" y="4747260"/>
            <a:ext cx="11539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2963922">
            <a:off x="6446520" y="4651248"/>
            <a:ext cx="98354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2388334">
            <a:off x="6510528" y="4576572"/>
            <a:ext cx="8332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-1593903">
            <a:off x="6574536" y="4523232"/>
            <a:ext cx="7156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-567739">
            <a:off x="6638544" y="4491228"/>
            <a:ext cx="64891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567739">
            <a:off x="6702552" y="4480560"/>
            <a:ext cx="64891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593903">
            <a:off x="6766560" y="4491228"/>
            <a:ext cx="7156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388334">
            <a:off x="6830568" y="4523232"/>
            <a:ext cx="8332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963922">
            <a:off x="6894576" y="4576572"/>
            <a:ext cx="98354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3378596">
            <a:off x="6958584" y="4651248"/>
            <a:ext cx="11539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3683372">
            <a:off x="7022592" y="4747260"/>
            <a:ext cx="13367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20256" y="4398264"/>
            <a:ext cx="164592" cy="164592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93992" y="42793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583680" y="3438144"/>
            <a:ext cx="2103120" cy="1335024"/>
          </a:xfrm>
          <a:prstGeom prst="rect">
            <a:avLst/>
          </a:prstGeom>
          <a:solidFill>
            <a:srgbClr val="F8F9FE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Las partes de la parábola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9264"/>
            <a:ext cx="5120640" cy="886968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9264"/>
            <a:ext cx="502920" cy="8869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9264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024128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298448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más alto (máx) o más bajo (mín) de la parábola.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Fórmula: x_v = −b / (2a)   →   y_v = f(x_v)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947672"/>
            <a:ext cx="5120640" cy="886968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947672"/>
            <a:ext cx="502920" cy="8869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47672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↔️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2002536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DE SIMETRÍA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276856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vertical que divide la parábola en dos mitades iguales.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−b / (2a)  (misma fórmula que x del vértice)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926080"/>
            <a:ext cx="5120640" cy="886968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26080"/>
            <a:ext cx="502920" cy="8869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926080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96112" y="2980944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CEROS / RAÍCES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" y="3255264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donde f(x) = 0 (la curva cruza el eje x).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tener 2, 1 o ninguna raíz real.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04488"/>
            <a:ext cx="5120640" cy="886968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904488"/>
            <a:ext cx="502920" cy="88696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904488"/>
            <a:ext cx="502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📌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96112" y="3959352"/>
            <a:ext cx="4462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 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233672"/>
            <a:ext cx="4462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donde la parábola cruza el eje 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es f(0) = c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914400"/>
            <a:ext cx="3108960" cy="3977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669280" y="914400"/>
            <a:ext cx="3108960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9326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 − 4x + 3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1389888"/>
            <a:ext cx="36576" cy="31363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4526280"/>
            <a:ext cx="283464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71032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73368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75704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78040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580376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82712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85048" y="4562856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 rot="4645837">
            <a:off x="5978347" y="3202595"/>
            <a:ext cx="21261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4606470">
            <a:off x="6024616" y="3410109"/>
            <a:ext cx="20223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4562851">
            <a:off x="6070884" y="3606982"/>
            <a:ext cx="19189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4514272">
            <a:off x="6117153" y="3793214"/>
            <a:ext cx="1815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4459856">
            <a:off x="6163422" y="3968803"/>
            <a:ext cx="17131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4398518">
            <a:off x="6209690" y="4133751"/>
            <a:ext cx="16109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4328896">
            <a:off x="6255959" y="4288057"/>
            <a:ext cx="15093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4249260">
            <a:off x="6302228" y="4431721"/>
            <a:ext cx="14083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4157388">
            <a:off x="6348496" y="4564743"/>
            <a:ext cx="13083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4050396">
            <a:off x="6394765" y="4687124"/>
            <a:ext cx="12093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3924483">
            <a:off x="6441034" y="4798863"/>
            <a:ext cx="11118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3924483">
            <a:off x="7320138" y="4899960"/>
            <a:ext cx="111182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4050396">
            <a:off x="7366406" y="4798863"/>
            <a:ext cx="12093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4157388">
            <a:off x="7412675" y="4687124"/>
            <a:ext cx="130835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4249260">
            <a:off x="7458944" y="4564743"/>
            <a:ext cx="140839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4328896">
            <a:off x="7505212" y="4431721"/>
            <a:ext cx="150931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4398518">
            <a:off x="7551481" y="4288057"/>
            <a:ext cx="16109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-4459856">
            <a:off x="7597750" y="4133751"/>
            <a:ext cx="171314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-4514272">
            <a:off x="7644018" y="3968803"/>
            <a:ext cx="18158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4562851">
            <a:off x="7690287" y="3793214"/>
            <a:ext cx="191893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-4606470">
            <a:off x="7736556" y="3606982"/>
            <a:ext cx="202237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-4645837">
            <a:off x="7782824" y="3410109"/>
            <a:ext cx="21261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2280" y="4837176"/>
            <a:ext cx="182880" cy="182880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95160" y="47640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(2,−1)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903720" y="1389888"/>
            <a:ext cx="27432" cy="3136392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144475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x=2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007608" y="4434840"/>
            <a:ext cx="182880" cy="182880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4768" y="43434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(1,0)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7616952" y="4434840"/>
            <a:ext cx="182880" cy="182880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54112" y="43434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(3,0)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007608" y="3227832"/>
            <a:ext cx="182880" cy="182880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94376" y="3209544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c=3</a:t>
            </a:r>
            <a:endParaRPr lang="en-US" sz="850" dirty="0"/>
          </a:p>
          <a:p>
            <a:pPr algn="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(0,3)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f(x)=x²−4x+3: a=1&gt;0 abre arriba · vértice (2,−1) mínimo · raíces en x=1 y x=3 · intercepto y=3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Calculando el vértice paso a paso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vértice (h, k) es el punto más importante de la parábola. Indica el máximo o mínimo de la función.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640080"/>
          </a:xfrm>
          <a:prstGeom prst="rect">
            <a:avLst/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4173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−b / (2a)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80560" y="1444752"/>
            <a:ext cx="36576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f(h)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084832"/>
            <a:ext cx="53035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84832"/>
            <a:ext cx="5303520" cy="40233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122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f(x) = 2x² − 8x + 6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8912" y="2542032"/>
            <a:ext cx="515721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7860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a, b, 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468880" y="25786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2     b = −8     c = 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2980944"/>
            <a:ext cx="5157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1752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468880" y="3017520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−(−8) / (2·2) = 8 / 4 = 2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" y="3419856"/>
            <a:ext cx="515721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5643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k = f(2)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468880" y="3456432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2(2)² − 8(2) + 6 = 8 − 16 + 6 = −2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" y="3858768"/>
            <a:ext cx="515721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895344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vértice es: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468880" y="3895344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(h, k) = (2, −2)  →  Mínimo (a=2&gt;0)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8912" y="4297680"/>
            <a:ext cx="5157216" cy="384048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3425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 de simetría: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468880" y="433425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897880" y="2084832"/>
            <a:ext cx="28803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49440" y="2176272"/>
            <a:ext cx="36576" cy="2395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16752" y="4572000"/>
            <a:ext cx="265176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64808" y="4608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812280" y="4608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159752" y="4608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507224" y="4608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854696" y="4608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8202168" y="460857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 rot="5001130">
            <a:off x="6185002" y="2598359"/>
            <a:ext cx="330164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4979778">
            <a:off x="6223224" y="2926303"/>
            <a:ext cx="31346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4956024">
            <a:off x="6261445" y="3237430"/>
            <a:ext cx="29678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4929442">
            <a:off x="6299667" y="3531738"/>
            <a:ext cx="280111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4899498">
            <a:off x="6337889" y="3809229"/>
            <a:ext cx="263461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4865517">
            <a:off x="6376111" y="4069903"/>
            <a:ext cx="246833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4826631">
            <a:off x="6414333" y="4313759"/>
            <a:ext cx="230233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4781709">
            <a:off x="6452555" y="4540797"/>
            <a:ext cx="213667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4781709">
            <a:off x="7408103" y="4751018"/>
            <a:ext cx="213667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4826631">
            <a:off x="7446325" y="4540797"/>
            <a:ext cx="230233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4865517">
            <a:off x="7484547" y="4313759"/>
            <a:ext cx="246833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4899498">
            <a:off x="7522769" y="4069903"/>
            <a:ext cx="263461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4929442">
            <a:off x="7560991" y="3809229"/>
            <a:ext cx="280111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4956024">
            <a:off x="7599213" y="3531738"/>
            <a:ext cx="29678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-4979778">
            <a:off x="7637435" y="3237430"/>
            <a:ext cx="313465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-5001130">
            <a:off x="7675656" y="2926303"/>
            <a:ext cx="330164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58000" y="5175504"/>
            <a:ext cx="182880" cy="182880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40880" y="51023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V(2,−2)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949440" y="2176272"/>
            <a:ext cx="27432" cy="2395728"/>
          </a:xfrm>
          <a:prstGeom prst="rect">
            <a:avLst/>
          </a:prstGeom>
          <a:solidFill>
            <a:srgbClr val="FCA5A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95160" y="2212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x=2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vértice resume todo: si a&gt;0 es mínimo (parábola ⬆), si a&lt;0 es máximo (parábola ⬇).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Los ceros o raíces de la función cuadrática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ceros son los valores de x donde f(x) = 0. Se calculan con la fórmula cuadrática o factorizando.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65760" y="1353312"/>
            <a:ext cx="4389120" cy="960120"/>
          </a:xfrm>
          <a:prstGeom prst="rect">
            <a:avLst/>
          </a:prstGeom>
          <a:solidFill>
            <a:srgbClr val="F0FDF4"/>
          </a:solidFill>
          <a:ln w="317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89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 CUADRÁTICA: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642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 −b ± √(b²− 4ac)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048256"/>
            <a:ext cx="2743200" cy="3657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84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37760" y="1353312"/>
            <a:ext cx="3840480" cy="96012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353312"/>
            <a:ext cx="38404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47488" y="138074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DISCRIMINANTE: Δ = b²− 4ac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7488" y="173736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&gt; 0 → 2 raíces reales  |  Δ = 0 → 1 raíz  |  Δ &lt; 0 → sin raíces reales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423160"/>
            <a:ext cx="2743200" cy="242316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23160"/>
            <a:ext cx="274320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505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&gt; 0  →  2 raíces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" y="2852928"/>
            <a:ext cx="1280160" cy="1536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x²−5x+6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25−24 = 1 &gt;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(5±1)/2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x₁=3  x₂=2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0" y="2816352"/>
            <a:ext cx="27432" cy="18470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37360" y="4663440"/>
            <a:ext cx="14630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4819599">
            <a:off x="1051560" y="1943100"/>
            <a:ext cx="25395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4792520">
            <a:off x="1094232" y="2193442"/>
            <a:ext cx="24274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4762821">
            <a:off x="1136904" y="2432406"/>
            <a:ext cx="23155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4730107">
            <a:off x="1179576" y="2659990"/>
            <a:ext cx="220376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4693903">
            <a:off x="1222248" y="2876194"/>
            <a:ext cx="20922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4653626">
            <a:off x="1264920" y="3081020"/>
            <a:ext cx="19809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4608563">
            <a:off x="1307592" y="3274466"/>
            <a:ext cx="18700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4557825">
            <a:off x="1350264" y="3456534"/>
            <a:ext cx="17594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4500295">
            <a:off x="1392936" y="3627222"/>
            <a:ext cx="16492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4434551">
            <a:off x="1435608" y="3786530"/>
            <a:ext cx="15396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4358759">
            <a:off x="1478280" y="3934460"/>
            <a:ext cx="14306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4270517">
            <a:off x="1520952" y="4071010"/>
            <a:ext cx="132245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4166637">
            <a:off x="1563624" y="4196182"/>
            <a:ext cx="12153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4042808">
            <a:off x="1606296" y="4309974"/>
            <a:ext cx="11094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3893110">
            <a:off x="1648968" y="4412386"/>
            <a:ext cx="100539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3709285">
            <a:off x="1691640" y="4503420"/>
            <a:ext cx="90364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3479677">
            <a:off x="1734312" y="4583074"/>
            <a:ext cx="8051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3187806">
            <a:off x="1776984" y="4651350"/>
            <a:ext cx="711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810857">
            <a:off x="1819656" y="4708246"/>
            <a:ext cx="6239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319588">
            <a:off x="1862328" y="4753762"/>
            <a:ext cx="5464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684349">
            <a:off x="1905000" y="4787900"/>
            <a:ext cx="4836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895885">
            <a:off x="1947672" y="4810658"/>
            <a:ext cx="4416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90344" y="4822038"/>
            <a:ext cx="4267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895885">
            <a:off x="2033016" y="4822038"/>
            <a:ext cx="4416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-1684349">
            <a:off x="2075688" y="4810658"/>
            <a:ext cx="48362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-2319588">
            <a:off x="2118360" y="4787900"/>
            <a:ext cx="54647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2810857">
            <a:off x="2161032" y="4753762"/>
            <a:ext cx="62391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-3187806">
            <a:off x="2203704" y="4708246"/>
            <a:ext cx="7112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-3479677">
            <a:off x="2246376" y="4651350"/>
            <a:ext cx="80513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3709285">
            <a:off x="2289048" y="4583074"/>
            <a:ext cx="90364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778508" y="4590288"/>
            <a:ext cx="146304" cy="14630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098548" y="4590288"/>
            <a:ext cx="146304" cy="146304"/>
          </a:xfrm>
          <a:prstGeom prst="ellipse">
            <a:avLst/>
          </a:prstGeom>
          <a:solidFill>
            <a:srgbClr val="16A3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46120" y="2423160"/>
            <a:ext cx="2743200" cy="2423160"/>
          </a:xfrm>
          <a:prstGeom prst="rect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3246120" y="2423160"/>
            <a:ext cx="27432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37560" y="24505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  →  1 raíz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3337560" y="2852928"/>
            <a:ext cx="1280160" cy="1536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x²−4x+4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16−16 =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4/2 =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2  (doble)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937760" y="2816352"/>
            <a:ext cx="27432" cy="18470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663440" y="4663440"/>
            <a:ext cx="14630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4703311">
            <a:off x="4137660" y="2663190"/>
            <a:ext cx="212009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4664114">
            <a:off x="4180332" y="2870860"/>
            <a:ext cx="20087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4620323">
            <a:off x="4223004" y="3067152"/>
            <a:ext cx="18977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4571098">
            <a:off x="4265676" y="3252064"/>
            <a:ext cx="17870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4515386">
            <a:off x="4308348" y="3425596"/>
            <a:ext cx="16767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4451849">
            <a:off x="4351020" y="3587750"/>
            <a:ext cx="15669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4378768">
            <a:off x="4393692" y="3738524"/>
            <a:ext cx="1457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4293903">
            <a:off x="4436364" y="3877920"/>
            <a:ext cx="134941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4194286">
            <a:off x="4479036" y="4005936"/>
            <a:ext cx="12419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4075926">
            <a:off x="4521708" y="4122572"/>
            <a:ext cx="11357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3933363">
            <a:off x="4564380" y="4227830"/>
            <a:ext cx="10312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3759007">
            <a:off x="4607052" y="4321708"/>
            <a:ext cx="92882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3542175">
            <a:off x="4649724" y="4404208"/>
            <a:ext cx="82939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3267739">
            <a:off x="4692396" y="4475328"/>
            <a:ext cx="7341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914580">
            <a:off x="4735068" y="4535068"/>
            <a:ext cx="6449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454863">
            <a:off x="4777740" y="4583430"/>
            <a:ext cx="5646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1857825">
            <a:off x="4820412" y="4620412"/>
            <a:ext cx="49764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1106097">
            <a:off x="4863084" y="4646016"/>
            <a:ext cx="4498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28844">
            <a:off x="4905756" y="4660240"/>
            <a:ext cx="4276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-678596">
            <a:off x="4948428" y="4663084"/>
            <a:ext cx="4351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-1501014">
            <a:off x="4991100" y="4654550"/>
            <a:ext cx="4709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2175230">
            <a:off x="5033772" y="4634636"/>
            <a:ext cx="5291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-2700000">
            <a:off x="5076444" y="4603344"/>
            <a:ext cx="6034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-3102590">
            <a:off x="5119116" y="4560672"/>
            <a:ext cx="68865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3413319">
            <a:off x="5161788" y="4506620"/>
            <a:ext cx="7811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-3656724">
            <a:off x="5204460" y="4441190"/>
            <a:ext cx="8786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rot="-3850740">
            <a:off x="5247132" y="4364380"/>
            <a:ext cx="9797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4008085">
            <a:off x="5289804" y="4276192"/>
            <a:ext cx="108327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-4137749">
            <a:off x="5332476" y="4176624"/>
            <a:ext cx="11887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-4246160">
            <a:off x="5375148" y="4065676"/>
            <a:ext cx="1295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864608" y="4590288"/>
            <a:ext cx="146304" cy="146304"/>
          </a:xfrm>
          <a:prstGeom prst="ellipse">
            <a:avLst/>
          </a:prstGeom>
          <a:solidFill>
            <a:srgbClr val="2563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72200" y="2423160"/>
            <a:ext cx="2743200" cy="2423160"/>
          </a:xfrm>
          <a:prstGeom prst="rect">
            <a:avLst/>
          </a:prstGeom>
          <a:solidFill>
            <a:srgbClr val="FFE4E6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172200" y="2423160"/>
            <a:ext cx="2743200" cy="38404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63640" y="245059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&lt; 0  →  sin raíces</a:t>
            </a:r>
            <a:endParaRPr lang="en-US" sz="1250" dirty="0"/>
          </a:p>
        </p:txBody>
      </p:sp>
      <p:sp>
        <p:nvSpPr>
          <p:cNvPr id="92" name="Text 90"/>
          <p:cNvSpPr/>
          <p:nvPr/>
        </p:nvSpPr>
        <p:spPr>
          <a:xfrm>
            <a:off x="6263640" y="2852928"/>
            <a:ext cx="1280160" cy="153619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x²+x+1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1−4 = −3 &lt; 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corta el eje 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 solución real)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7863840" y="2816352"/>
            <a:ext cx="27432" cy="18470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589520" y="4663440"/>
            <a:ext cx="1463040" cy="2743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-455679">
            <a:off x="7863840" y="4183380"/>
            <a:ext cx="4305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rot="-1308085">
            <a:off x="7906512" y="4177690"/>
            <a:ext cx="45959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2021404">
            <a:off x="7949184" y="4160622"/>
            <a:ext cx="51285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-2581504">
            <a:off x="7991856" y="4132174"/>
            <a:ext cx="5837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rot="-3011666">
            <a:off x="8034528" y="4092346"/>
            <a:ext cx="6665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3342787">
            <a:off x="8077200" y="4041140"/>
            <a:ext cx="75749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-3601102">
            <a:off x="8119872" y="3978554"/>
            <a:ext cx="85391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rot="-3806097">
            <a:off x="8162544" y="3904590"/>
            <a:ext cx="95417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3971643">
            <a:off x="8205216" y="3819246"/>
            <a:ext cx="105718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-4107541">
            <a:off x="8247888" y="3722522"/>
            <a:ext cx="11622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rot="-4220771">
            <a:off x="8290560" y="3614420"/>
            <a:ext cx="12687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-4316372">
            <a:off x="8333232" y="3494938"/>
            <a:ext cx="137642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-4398045">
            <a:off x="8375904" y="3364078"/>
            <a:ext cx="148503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rot="-4468553">
            <a:off x="8418576" y="3221838"/>
            <a:ext cx="15943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-4529990">
            <a:off x="8461248" y="3068218"/>
            <a:ext cx="170427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-4583967">
            <a:off x="8503920" y="2903220"/>
            <a:ext cx="18146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rot="-4631744">
            <a:off x="8546592" y="2726842"/>
            <a:ext cx="192545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4674315">
            <a:off x="8589264" y="2539086"/>
            <a:ext cx="203657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-4712475">
            <a:off x="8631936" y="2339950"/>
            <a:ext cx="214797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rot="-4746868">
            <a:off x="8674608" y="2129434"/>
            <a:ext cx="225960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4778021">
            <a:off x="8717280" y="1907540"/>
            <a:ext cx="237144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-4806365">
            <a:off x="8759952" y="1674266"/>
            <a:ext cx="248346" cy="3657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Truco: Calcula siempre el discriminante PRIMERO para saber cuántas soluciones esperar.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Forma estándar vs. Forma canónica (vértice)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parábola se puede escribir de dos formas equivalentes, cada una útil para cosas distintas.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4160520" cy="2148840"/>
          </a:xfrm>
          <a:prstGeom prst="rect">
            <a:avLst/>
          </a:prstGeom>
          <a:solidFill>
            <a:srgbClr val="F5F3FF"/>
          </a:solidFill>
          <a:ln w="317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53312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ESTÁNDAR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84708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847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ax² + bx + 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9768" y="2377440"/>
            <a:ext cx="3913632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Fácil identificar c (intercepto y)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Aplicar fórmula cuadrática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Calcular el discriminante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29768" y="3182112"/>
            <a:ext cx="39136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da el vértice directo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1353312"/>
            <a:ext cx="4160520" cy="2148840"/>
          </a:xfrm>
          <a:prstGeom prst="rect">
            <a:avLst/>
          </a:prstGeom>
          <a:solidFill>
            <a:srgbClr val="F0FDFA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00600" y="1353312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3990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CANÓNICA / VÉRTICE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847088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8470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a(x − h)² + k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910328" y="2377440"/>
            <a:ext cx="3913632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Vértice visible: (h, k)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Eje de simetría x = 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Transformaciones fáciles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10328" y="3182112"/>
            <a:ext cx="3913632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Hay que completar el cuadrado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584448"/>
            <a:ext cx="850392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584448"/>
            <a:ext cx="850392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61188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Convirtiendo de estándar a canónica: f(x) = x² − 6x + 5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8912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h = −(−6)/(2·1) = 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k = f(3) = 9 − 18 + 5 = −4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4005072"/>
            <a:ext cx="4114800" cy="62179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4023360"/>
            <a:ext cx="3931920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(x − 3)² − 4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Vértice: (3, −4)  ·  Eje: x = 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formas representan la MISMA función. Usa la que más convenga según lo que te pidan.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La cuadrática en la vida real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3268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funciones cuadráticas modelan situaciones donde hay un máximo o mínimo: tiros, ganancias, áreas...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74320" y="1353312"/>
            <a:ext cx="2834640" cy="347472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53312"/>
            <a:ext cx="2834640" cy="4206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0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⚽  El tiro al arco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= −5t² + 20t + 1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223113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= −5  (gravedad, abre ↓)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25237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 = 20  (vel. inicial)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" y="28163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 = 1  (altura inicial 1m)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145536"/>
            <a:ext cx="2651760" cy="274320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145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¿A qué altura máxima llega el balón?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456432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493008"/>
            <a:ext cx="2578608" cy="12252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t_v = −20/(2·−5) = 2 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h(2) = −5(4)+40+1 = 21 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18688" y="1353312"/>
            <a:ext cx="2834640" cy="347472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18688" y="1353312"/>
            <a:ext cx="283464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1380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Ganancia de una tienda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10128" y="182880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G(x) = −2x² + 120x − 800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28416" y="223113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 = precio en miles de $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28416" y="25237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= −2  (abre ↓ → tiene máximo)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28416" y="28163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Vértice = precio óptimo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10128" y="3145536"/>
            <a:ext cx="2651760" cy="274320"/>
          </a:xfrm>
          <a:prstGeom prst="rect">
            <a:avLst/>
          </a:prstGeom>
          <a:solidFill>
            <a:srgbClr val="0D9488">
              <a:alpha val="8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28416" y="3145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¿Cuál es el precio que maximiza la ganancia?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0128" y="3456432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46704" y="3493008"/>
            <a:ext cx="2578608" cy="12252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x_v = −120/(2·−2) = 30  →  precio: $30.000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G(30) = −2(900)+3600−800 = $1.000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63056" y="1353312"/>
            <a:ext cx="2834640" cy="347472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63056" y="1353312"/>
            <a:ext cx="2834640" cy="42062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13807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🏊  El clavadista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54496" y="1828800"/>
            <a:ext cx="26517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18288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 = −4.9t² + 8t + 10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72784" y="223113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 = altura en metros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72784" y="25237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 = tiempo en segundos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72784" y="281635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 = 10  (trampolín a 10 m)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54496" y="3145536"/>
            <a:ext cx="2651760" cy="274320"/>
          </a:xfrm>
          <a:prstGeom prst="rect">
            <a:avLst/>
          </a:prstGeom>
          <a:solidFill>
            <a:srgbClr val="16A34A">
              <a:alpha val="85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72784" y="3145536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¿Cuándo toca el agua? (h=0)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54496" y="3456432"/>
            <a:ext cx="265176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91072" y="3493008"/>
            <a:ext cx="2578608" cy="12252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64 + 196 = 260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(−8 ± √260) / (−9.8)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≈ 2.45 segundos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si a&lt;0 la parábola tiene MÁXIMO (ganancia máxima, altura máxima). Si a&gt;0 tiene MÍNIMO (costo mínimo).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Ejercicios — Sesión 4: Función Cuadrática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1920240"/>
          </a:xfrm>
          <a:prstGeom prst="rect">
            <a:avLst/>
          </a:prstGeom>
          <a:solidFill>
            <a:srgbClr val="F5F3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8036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El salto en Free Fire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altura de un personaje al saltar sigue: h(t) = −4t² + 12t. ¿Cuál es la altura máxima que alcanza? ¿En qué momento toca el suelo? Grafica la parábola.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160520" cy="1920240"/>
          </a:xfrm>
          <a:prstGeom prst="rect">
            <a:avLst/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16052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104241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46320" y="1014984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 Negocio del recreo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64608" y="1453896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ganancia semanal de vender empanadas es G(x) = −3x² + 90x − 400, donde x es el precio. Encuentra el precio óptimo y la ganancia máxima. ¿Para qué precios hay pérdida?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90088"/>
            <a:ext cx="4160520" cy="192024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90088"/>
            <a:ext cx="4160520" cy="43891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576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Forma estándar ↔ vértice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f(x) = 2x² − 12x + 10 a forma canónica. Identifica el vértice, el eje de simetría y si la parábola tiene máximo o mínimo. Explica con tus palabras.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990088"/>
            <a:ext cx="4160520" cy="1920240"/>
          </a:xfrm>
          <a:prstGeom prst="rect">
            <a:avLst/>
          </a:prstGeom>
          <a:solidFill>
            <a:srgbClr val="FFE4E6"/>
          </a:solidFill>
          <a:ln w="2540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90088"/>
            <a:ext cx="4160520" cy="43891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0723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846320" y="304495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¿Cuántas raíces tiene?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64608" y="3483864"/>
            <a:ext cx="3931920" cy="13533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resolver la ecuación completa, determina cuántas raíces reales tienen: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f(x) = x² − 6x + 9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f(x) = x² + 4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f(x) = 2x² − 5x + 1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usando el discriminante.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956048"/>
            <a:ext cx="9144000" cy="201168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4956048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Trabaja en grupos de 3 · Dibuja SIEMPRE la parábola · Señala vértice, ceros e intercepto 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Lo que aprendimos hoy — Sesión 4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94944"/>
          </a:xfrm>
          <a:prstGeom prst="rect">
            <a:avLst/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914400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f(x)=ax²+bx+c: a≠0, gráfica es una PARÁBOLA (⬆ si a&gt;0, ⬇ si a&lt;0).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65760" y="1700784"/>
            <a:ext cx="8412480" cy="694944"/>
          </a:xfrm>
          <a:prstGeom prst="rect">
            <a:avLst/>
          </a:prstGeom>
          <a:solidFill>
            <a:srgbClr val="FFF7ED"/>
          </a:solidFill>
          <a:ln w="1905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00784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1700784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Vértice (h,k): h=−b/(2a) y k=f(h). Es el máximo o mínimo.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365760" y="2487168"/>
            <a:ext cx="8412480" cy="694944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87168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87552" y="2487168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Ceros: f(x)=0. Usa la fórmula cuadrática. Cantidad según discriminante Δ.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8412480" cy="694944"/>
          </a:xfrm>
          <a:prstGeom prst="rect">
            <a:avLst/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73552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3273552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canónica f(x)=a(x−h)²+k revela el vértice directamente.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8412480" cy="694944"/>
          </a:xfrm>
          <a:prstGeom prst="rect">
            <a:avLst/>
          </a:prstGeom>
          <a:solidFill>
            <a:srgbClr val="FFE4E6"/>
          </a:solidFill>
          <a:ln w="1905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94A3B8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59936"/>
            <a:ext cx="530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7552" y="4059936"/>
            <a:ext cx="7699248" cy="6949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Aplicaciones: proyectiles, ganancias, áreas. Siempre hay un óptimo.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46320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sesión: Otras funciones → Raíz cuadrada, Valor Absoluto, Racional y Transformaciones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4 - Función Cuadrática</dc:title>
  <dc:subject>PptxGenJS Presentation</dc:subject>
  <dc:creator>PptxGenJS</dc:creator>
  <cp:lastModifiedBy>PptxGenJS</cp:lastModifiedBy>
  <cp:revision>1</cp:revision>
  <dcterms:created xsi:type="dcterms:W3CDTF">2026-02-18T21:30:28Z</dcterms:created>
  <dcterms:modified xsi:type="dcterms:W3CDTF">2026-02-18T21:30:28Z</dcterms:modified>
</cp:coreProperties>
</file>